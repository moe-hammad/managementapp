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6" r:id="rId9"/>
    <p:sldId id="267" r:id="rId10"/>
    <p:sldId id="268" r:id="rId11"/>
    <p:sldId id="262" r:id="rId12"/>
    <p:sldId id="263" r:id="rId13"/>
    <p:sldId id="264" r:id="rId14"/>
  </p:sldIdLst>
  <p:sldSz cx="9144000" cy="5715000" type="screen16x10"/>
  <p:notesSz cx="6858000" cy="9144000"/>
  <p:defaultTextStyle>
    <a:defPPr>
      <a:defRPr lang="de-DE"/>
    </a:defPPr>
    <a:lvl1pPr marL="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1pPr>
    <a:lvl2pPr marL="35661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2pPr>
    <a:lvl3pPr marL="71323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3pPr>
    <a:lvl4pPr marL="106984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4pPr>
    <a:lvl5pPr marL="1426464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0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072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howGuides="1">
      <p:cViewPr varScale="1">
        <p:scale>
          <a:sx n="120" d="100"/>
          <a:sy n="120" d="100"/>
        </p:scale>
        <p:origin x="1296" y="108"/>
      </p:cViewPr>
      <p:guideLst>
        <p:guide orient="horz" pos="180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10E06B6B-611D-D422-2464-48BEDE0D64C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EA7980B-5B80-C8BC-C1B5-1B9F99DE943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AB7B9C-57EE-4EAB-9E25-C1D3CEF0813F}" type="datetimeFigureOut">
              <a:rPr lang="de-DE" smtClean="0"/>
              <a:t>14.01.2026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565D470-3B55-94B0-C11C-EB8CFD22285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de-DE"/>
              <a:t>Mohammad Hammad (929184)| Prof.Dr. Sebastian von Klinski | Wintersemester 25/26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EAFB326-AAAF-9554-53DC-C35AC0CDA80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DAAD61-C401-4DB4-A743-842ECB7F143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6945425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3DD1E1-9F55-476C-BB7F-62ADD80DBC5D}" type="datetimeFigureOut">
              <a:rPr lang="de-DE" smtClean="0"/>
              <a:t>14.01.2026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de-DE"/>
              <a:t>Mohammad Hammad (929184)| Prof.Dr. Sebastian von Klinski | Wintersemester 25/26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EF478A-42C8-490B-BA0E-D2EF613A3B5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11700288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962E365-CD11-3B8D-E3B3-2AD3D0CA49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935302"/>
            <a:ext cx="6858000" cy="19896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BB25FA5-CD4B-AA08-F4F8-62B62E28CA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EEE5DC1-C59E-835F-ED89-3F67F3AA5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24AD4-8F92-4565-AB18-F274B918A1B6}" type="datetime1">
              <a:rPr lang="de-DE" smtClean="0"/>
              <a:t>14.01.2026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8C3FF79-7C51-0D8F-BE9F-5E6193130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8339C13-DBE7-3FDE-522C-561C60E86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92006-D325-4DB0-B1D2-7D118353905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283673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BEF91FA-83CF-4956-DF1F-BD147203A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BA7DCD5-2751-2A65-AF22-6099F00C0A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FD844FD-54DE-C3B3-5E75-36D3F10F5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904E7-C88D-43B5-BE60-AD3732260649}" type="datetime1">
              <a:rPr lang="de-DE" smtClean="0"/>
              <a:t>14.01.2026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7DF3E8C-8BD6-1656-8E83-200B89A27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E65BF5A-3BB6-6C15-595D-7CFD33000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92006-D325-4DB0-B1D2-7D118353905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239486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5D9EEF4-6053-A575-F18B-503349D61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424782"/>
            <a:ext cx="7886700" cy="2377281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083F0FD-A197-C12F-9465-94DA3C67F9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824553"/>
            <a:ext cx="7886700" cy="125015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7D843AE-DD9F-08B8-512A-8FD7F15D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CA9E8-7A77-4144-9939-C52E2A239C75}" type="datetime1">
              <a:rPr lang="de-DE" smtClean="0"/>
              <a:t>14.01.2026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856C066-1116-8EB6-5399-73FC08265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CF463E1-394B-6B76-A46E-E9121EBFA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92006-D325-4DB0-B1D2-7D118353905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038675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54E8E2-F3CD-98DA-A97A-283A3A8B6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40763C9-164E-D036-9580-5D66C97820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521354"/>
            <a:ext cx="3886200" cy="362611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3500F23-A23A-5D7E-90E5-A4EC349FEA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521354"/>
            <a:ext cx="3886200" cy="362611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59488C4-33A4-00E7-11F7-6DD069BFE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3ED43-4A6C-4AE8-8800-E9748BF65956}" type="datetime1">
              <a:rPr lang="de-DE" smtClean="0"/>
              <a:t>14.01.2026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F68DA56-140A-70AC-B5E8-CCD0FB81A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B4818B2-F28D-C060-FE47-0E266DD68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92006-D325-4DB0-B1D2-7D118353905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314425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B6DCFC-8DF6-5D83-52FA-9B326321B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04271"/>
            <a:ext cx="7886700" cy="1104636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C120FB6-B8D2-B5F6-8CE7-841395E50B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400969"/>
            <a:ext cx="3868340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F2D4128-2838-940F-B04A-23E9013E11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087563"/>
            <a:ext cx="3868340" cy="307049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3449238-704D-7858-829A-5E96C5A739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400969"/>
            <a:ext cx="3887391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1D88DA3E-9404-32F0-7653-A0ED4142FF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087563"/>
            <a:ext cx="3887391" cy="307049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9E6B1176-3180-5411-6A5D-1F90887FF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FD293-5449-4400-9B62-AAD44FA85609}" type="datetime1">
              <a:rPr lang="de-DE" smtClean="0"/>
              <a:t>14.01.2026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E2CC3BB6-B681-D4BD-B8C2-0E4F53BD9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9379EDA-25D2-06AC-C6B4-76A12711C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92006-D325-4DB0-B1D2-7D118353905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497270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E54211-4531-001C-E9F3-8FF2B6453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67872B8-FB63-C8D8-8B64-1C0609CA2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65280-7CB3-43E3-B86F-55B61CE55E9F}" type="datetime1">
              <a:rPr lang="de-DE" smtClean="0"/>
              <a:t>14.01.2026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AB4E8F4-3876-59E7-3532-A23257E1C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99860FF-F39B-93A7-0CA7-2CEAEB91E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92006-D325-4DB0-B1D2-7D118353905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943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5B0E8683-3089-2A21-666F-6A75A51E55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34C92-3999-4EBA-A02F-7949265B7D52}" type="datetime1">
              <a:rPr lang="de-DE" smtClean="0"/>
              <a:t>14.01.2026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729BE8C-4A82-9C81-5ACB-BEA9EE2E8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17DA761-CA92-A412-B4F5-957338C02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92006-D325-4DB0-B1D2-7D118353905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694236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9A393AB-8879-FF35-8C25-182A15DCF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5E5C80D-FB9B-AF25-8AE4-A4415F78DC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9227023-772F-5C59-877D-B19A3C68D3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B91942A-196E-A626-65C9-885A6A714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619F6-DBFF-474A-8AD6-99F4C4AB3823}" type="datetime1">
              <a:rPr lang="de-DE" smtClean="0"/>
              <a:t>14.01.2026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D4F02B8-F082-D569-6A7F-18A827608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B83165E-A6C7-D099-19D5-8FCD4F0B5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92006-D325-4DB0-B1D2-7D118353905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320370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3F4A1E-A8E0-86D7-889B-FFE84E7EB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81DAE05F-F4D0-C1B1-94B3-572649F5C4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4040A46-212D-131C-2482-06A76EACC9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C49ABAB-ED92-69BB-D677-80683D259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359D4-3674-4AD2-8A5F-A886B1D64E58}" type="datetime1">
              <a:rPr lang="de-DE" smtClean="0"/>
              <a:t>14.01.2026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4541D6C-3980-8B91-2651-459128A08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D66554D-0CB8-19A1-B82B-06AF568DC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92006-D325-4DB0-B1D2-7D118353905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6532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BE9A89-DA7F-9089-C21B-3E02BE8E3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CC5064F-9FC7-EBB0-04D0-FC9A28B4AA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7C13CD8-DABA-A842-0FDD-184643457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AFCA5-EF58-484B-8192-7F8F540B5515}" type="datetime1">
              <a:rPr lang="de-DE" smtClean="0"/>
              <a:t>14.01.2026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DA5E3C5-06FF-7A1A-E4A5-C4E9B5F60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5B7DE8C-511C-1C7A-280E-E6818A651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92006-D325-4DB0-B1D2-7D118353905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732276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5788B87B-A595-4811-57CC-28BF5CE960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04271"/>
            <a:ext cx="1971675" cy="484319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10ED8531-BA55-DF74-36D9-5082955963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04271"/>
            <a:ext cx="5800725" cy="484319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0A18AE2-4844-9983-03EC-0169D8443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528AB-2480-485E-8BF8-82E61D483F56}" type="datetime1">
              <a:rPr lang="de-DE" smtClean="0"/>
              <a:t>14.01.2026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2DD63EE-40DE-15CF-0B2D-27EB1DA6C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3E6F7AF-C1F1-DA42-69FC-187C2D808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92006-D325-4DB0-B1D2-7D118353905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047442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5AFE9C18-2C19-FA43-5372-EB72E7DD0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654C6BD-827E-2F79-701A-1CE3D632F4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521354"/>
            <a:ext cx="7886700" cy="3626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7ED6E79-0EA7-F919-63B8-9007C2983B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8AA931-7F39-4542-AA09-C1620BB493AF}" type="datetime1">
              <a:rPr lang="de-DE" smtClean="0"/>
              <a:t>14.01.2026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9584EE7-ECE6-E77F-B0CE-AF4578332B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5296959"/>
            <a:ext cx="30861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46B3C32-B73E-D581-B394-1F56227529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492006-D325-4DB0-B1D2-7D118353905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82417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3F20DC1F-7DD6-857C-47BA-5BAEEA0E68C8}"/>
              </a:ext>
            </a:extLst>
          </p:cNvPr>
          <p:cNvSpPr txBox="1"/>
          <p:nvPr/>
        </p:nvSpPr>
        <p:spPr>
          <a:xfrm>
            <a:off x="609600" y="1524000"/>
            <a:ext cx="4572000" cy="92333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de-DE" sz="5400" b="1">
                <a:solidFill>
                  <a:srgbClr val="FFFFFF"/>
                </a:solidFill>
                <a:latin typeface="Poppins" panose="00000500000000000000" pitchFamily="2" charset="0"/>
              </a:rPr>
              <a:t>Mage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3EC24CB3-7844-BE6B-6A24-95ECF824730D}"/>
              </a:ext>
            </a:extLst>
          </p:cNvPr>
          <p:cNvSpPr txBox="1"/>
          <p:nvPr/>
        </p:nvSpPr>
        <p:spPr>
          <a:xfrm>
            <a:off x="609600" y="2413000"/>
            <a:ext cx="5576515" cy="830997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de-DE" sz="2400" dirty="0">
                <a:solidFill>
                  <a:srgbClr val="999999"/>
                </a:solidFill>
                <a:latin typeface="Source Sans 3"/>
              </a:rPr>
              <a:t>Management-App für strukturierte Teams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FDDF7011-1605-6221-A45B-15B5187ADFC5}"/>
              </a:ext>
            </a:extLst>
          </p:cNvPr>
          <p:cNvSpPr txBox="1"/>
          <p:nvPr/>
        </p:nvSpPr>
        <p:spPr>
          <a:xfrm>
            <a:off x="609600" y="3165445"/>
            <a:ext cx="4288403" cy="40011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de-DE" sz="2000" dirty="0">
                <a:solidFill>
                  <a:srgbClr val="4C8BFF"/>
                </a:solidFill>
                <a:latin typeface="Source Sans 3"/>
              </a:rPr>
              <a:t>Struktur. Transparenz. Verantwortung.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559CA650-CB62-0ABB-1841-3E28CB678C8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0" y="609600"/>
            <a:ext cx="914400" cy="914400"/>
          </a:xfrm>
          <a:prstGeom prst="rect">
            <a:avLst/>
          </a:prstGeom>
        </p:spPr>
      </p:pic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D7DAD75F-40B9-C4A7-31D2-2550A9117B6C}"/>
              </a:ext>
            </a:extLst>
          </p:cNvPr>
          <p:cNvCxnSpPr/>
          <p:nvPr/>
        </p:nvCxnSpPr>
        <p:spPr>
          <a:xfrm>
            <a:off x="609600" y="5207000"/>
            <a:ext cx="7924800" cy="0"/>
          </a:xfrm>
          <a:prstGeom prst="line">
            <a:avLst/>
          </a:prstGeom>
          <a:ln w="25400">
            <a:solidFill>
              <a:srgbClr val="4C8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1F61D9E-23CF-67BC-6C9C-47515FCE9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92006-D325-4DB0-B1D2-7D1183539058}" type="slidenum">
              <a:rPr lang="de-DE" smtClean="0"/>
              <a:t>1</a:t>
            </a:fld>
            <a:endParaRPr lang="de-DE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70A87AD8-35DC-6562-7137-3214538A9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07053" y="5296959"/>
            <a:ext cx="6991350" cy="304271"/>
          </a:xfrm>
        </p:spPr>
        <p:txBody>
          <a:bodyPr/>
          <a:lstStyle/>
          <a:p>
            <a:r>
              <a:rPr lang="de-DE" dirty="0">
                <a:solidFill>
                  <a:schemeClr val="bg2">
                    <a:lumMod val="90000"/>
                  </a:schemeClr>
                </a:solidFill>
              </a:rPr>
              <a:t>Mohammad Hammad (929184) | Prof. Dr. Sebastian von Klinski | Wintersemester 25/26</a:t>
            </a:r>
          </a:p>
        </p:txBody>
      </p:sp>
    </p:spTree>
    <p:extLst>
      <p:ext uri="{BB962C8B-B14F-4D97-AF65-F5344CB8AC3E}">
        <p14:creationId xmlns:p14="http://schemas.microsoft.com/office/powerpoint/2010/main" val="39204859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6DF2ACDB-6380-3A5B-E2C5-8C1949E3D0D9}"/>
              </a:ext>
            </a:extLst>
          </p:cNvPr>
          <p:cNvSpPr txBox="1"/>
          <p:nvPr/>
        </p:nvSpPr>
        <p:spPr>
          <a:xfrm>
            <a:off x="609600" y="609600"/>
            <a:ext cx="5486400" cy="67710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de-DE" sz="3800" b="1">
                <a:solidFill>
                  <a:srgbClr val="FFFFFF"/>
                </a:solidFill>
                <a:latin typeface="Poppins" panose="00000500000000000000" pitchFamily="2" charset="0"/>
              </a:rPr>
              <a:t>Gliederung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6497F6E9-0577-2A66-BAB9-FDA9F8048E4B}"/>
              </a:ext>
            </a:extLst>
          </p:cNvPr>
          <p:cNvSpPr txBox="1"/>
          <p:nvPr/>
        </p:nvSpPr>
        <p:spPr>
          <a:xfrm>
            <a:off x="609600" y="1651000"/>
            <a:ext cx="508000" cy="40011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de-DE" sz="2000" b="1">
                <a:solidFill>
                  <a:srgbClr val="4C8BFF"/>
                </a:solidFill>
                <a:latin typeface="Poppins" panose="00000500000000000000" pitchFamily="2" charset="0"/>
              </a:rPr>
              <a:t>01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C60700EB-B3C7-1B76-2FC6-9B2F14609225}"/>
              </a:ext>
            </a:extLst>
          </p:cNvPr>
          <p:cNvSpPr txBox="1"/>
          <p:nvPr/>
        </p:nvSpPr>
        <p:spPr>
          <a:xfrm>
            <a:off x="1371600" y="1651000"/>
            <a:ext cx="6400800" cy="430887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de-DE" sz="2200">
                <a:solidFill>
                  <a:srgbClr val="FFFFFF"/>
                </a:solidFill>
                <a:latin typeface="Source Sans 3"/>
              </a:rPr>
              <a:t>Einleitung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4FD8B2B9-F0D3-6206-5794-297E8E20B098}"/>
              </a:ext>
            </a:extLst>
          </p:cNvPr>
          <p:cNvSpPr txBox="1"/>
          <p:nvPr/>
        </p:nvSpPr>
        <p:spPr>
          <a:xfrm>
            <a:off x="609600" y="2133600"/>
            <a:ext cx="508000" cy="40011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de-DE" sz="2000" b="1">
                <a:solidFill>
                  <a:srgbClr val="4C8BFF"/>
                </a:solidFill>
                <a:latin typeface="Poppins" panose="00000500000000000000" pitchFamily="2" charset="0"/>
              </a:rPr>
              <a:t>02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64722A6B-1437-DA72-AD5F-A9648608734D}"/>
              </a:ext>
            </a:extLst>
          </p:cNvPr>
          <p:cNvSpPr txBox="1"/>
          <p:nvPr/>
        </p:nvSpPr>
        <p:spPr>
          <a:xfrm>
            <a:off x="1371600" y="2133600"/>
            <a:ext cx="6400800" cy="430887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de-DE" sz="2200">
                <a:solidFill>
                  <a:srgbClr val="FFFFFF"/>
                </a:solidFill>
                <a:latin typeface="Source Sans 3"/>
              </a:rPr>
              <a:t>Zielsetzung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C1542435-2ACA-22D2-9589-689C39F969A7}"/>
              </a:ext>
            </a:extLst>
          </p:cNvPr>
          <p:cNvSpPr txBox="1"/>
          <p:nvPr/>
        </p:nvSpPr>
        <p:spPr>
          <a:xfrm>
            <a:off x="609600" y="2616200"/>
            <a:ext cx="508000" cy="40011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de-DE" sz="2000" b="1" dirty="0">
                <a:solidFill>
                  <a:srgbClr val="4C8BFF"/>
                </a:solidFill>
                <a:latin typeface="Poppins" panose="00000500000000000000" pitchFamily="2" charset="0"/>
              </a:rPr>
              <a:t>03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AA77C628-EDA8-1CAE-4AB0-E20DD6715508}"/>
              </a:ext>
            </a:extLst>
          </p:cNvPr>
          <p:cNvSpPr txBox="1"/>
          <p:nvPr/>
        </p:nvSpPr>
        <p:spPr>
          <a:xfrm>
            <a:off x="1371600" y="2616200"/>
            <a:ext cx="6400800" cy="430887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de-DE" sz="2200">
                <a:solidFill>
                  <a:srgbClr val="FFFFFF"/>
                </a:solidFill>
                <a:latin typeface="Source Sans 3"/>
              </a:rPr>
              <a:t>Technische Architektur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9AF9A4A2-D9FA-3CDB-831F-129F5DB39E3F}"/>
              </a:ext>
            </a:extLst>
          </p:cNvPr>
          <p:cNvSpPr txBox="1"/>
          <p:nvPr/>
        </p:nvSpPr>
        <p:spPr>
          <a:xfrm>
            <a:off x="609599" y="3098800"/>
            <a:ext cx="686463" cy="482599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de-DE" sz="2000" b="1" dirty="0">
                <a:solidFill>
                  <a:srgbClr val="4C8BFF"/>
                </a:solidFill>
                <a:latin typeface="Poppins" panose="00000500000000000000" pitchFamily="2" charset="0"/>
              </a:rPr>
              <a:t>04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C7775EE3-05F1-7158-6F85-467303F29C0C}"/>
              </a:ext>
            </a:extLst>
          </p:cNvPr>
          <p:cNvSpPr txBox="1"/>
          <p:nvPr/>
        </p:nvSpPr>
        <p:spPr>
          <a:xfrm>
            <a:off x="1371600" y="3098800"/>
            <a:ext cx="6400800" cy="430887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de-DE" sz="2200">
                <a:solidFill>
                  <a:srgbClr val="FFFFFF"/>
                </a:solidFill>
                <a:latin typeface="Source Sans 3"/>
              </a:rPr>
              <a:t>Features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BD182DDF-FE8C-8CF0-0762-33256378BC1F}"/>
              </a:ext>
            </a:extLst>
          </p:cNvPr>
          <p:cNvSpPr txBox="1"/>
          <p:nvPr/>
        </p:nvSpPr>
        <p:spPr>
          <a:xfrm>
            <a:off x="609600" y="3581399"/>
            <a:ext cx="606950" cy="400109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de-DE" sz="2000" b="1" dirty="0">
                <a:solidFill>
                  <a:srgbClr val="4C8BFF"/>
                </a:solidFill>
                <a:latin typeface="Poppins" panose="00000500000000000000" pitchFamily="2" charset="0"/>
              </a:rPr>
              <a:t>05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2C7D88EB-4680-AC2B-E97D-483FF1CAD894}"/>
              </a:ext>
            </a:extLst>
          </p:cNvPr>
          <p:cNvSpPr txBox="1"/>
          <p:nvPr/>
        </p:nvSpPr>
        <p:spPr>
          <a:xfrm>
            <a:off x="1371600" y="3581400"/>
            <a:ext cx="6400800" cy="430887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de-DE" sz="2200">
                <a:solidFill>
                  <a:srgbClr val="FFFFFF"/>
                </a:solidFill>
                <a:latin typeface="Source Sans 3"/>
              </a:rPr>
              <a:t>Demo und Herausforderungen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594FD09A-CCA6-5312-ED9E-1E26A525F7A1}"/>
              </a:ext>
            </a:extLst>
          </p:cNvPr>
          <p:cNvSpPr txBox="1"/>
          <p:nvPr/>
        </p:nvSpPr>
        <p:spPr>
          <a:xfrm>
            <a:off x="609600" y="4064000"/>
            <a:ext cx="606950" cy="40011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de-DE" sz="2000" b="1" dirty="0">
                <a:solidFill>
                  <a:srgbClr val="4C8BFF"/>
                </a:solidFill>
                <a:latin typeface="Poppins" panose="00000500000000000000" pitchFamily="2" charset="0"/>
              </a:rPr>
              <a:t>06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3369F5ED-5807-E14D-A7B6-2CB66B1AC4F9}"/>
              </a:ext>
            </a:extLst>
          </p:cNvPr>
          <p:cNvSpPr txBox="1"/>
          <p:nvPr/>
        </p:nvSpPr>
        <p:spPr>
          <a:xfrm>
            <a:off x="1371600" y="4064000"/>
            <a:ext cx="6400800" cy="430887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de-DE" sz="2200">
                <a:solidFill>
                  <a:srgbClr val="FFFFFF"/>
                </a:solidFill>
                <a:latin typeface="Source Sans 3"/>
              </a:rPr>
              <a:t>Lessons Learned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3B8D8F5B-AE54-55A4-AC09-99A2C561D8B5}"/>
              </a:ext>
            </a:extLst>
          </p:cNvPr>
          <p:cNvSpPr txBox="1"/>
          <p:nvPr/>
        </p:nvSpPr>
        <p:spPr>
          <a:xfrm>
            <a:off x="609600" y="4546600"/>
            <a:ext cx="508000" cy="40011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de-DE" sz="2000" b="1" dirty="0">
                <a:solidFill>
                  <a:srgbClr val="4C8BFF"/>
                </a:solidFill>
                <a:latin typeface="Poppins" panose="00000500000000000000" pitchFamily="2" charset="0"/>
              </a:rPr>
              <a:t>07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8F714267-C3A4-96DD-8E66-209E08F500F0}"/>
              </a:ext>
            </a:extLst>
          </p:cNvPr>
          <p:cNvSpPr txBox="1"/>
          <p:nvPr/>
        </p:nvSpPr>
        <p:spPr>
          <a:xfrm>
            <a:off x="1371600" y="4546600"/>
            <a:ext cx="6400800" cy="430887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de-DE" sz="2200">
                <a:solidFill>
                  <a:srgbClr val="FFFFFF"/>
                </a:solidFill>
                <a:latin typeface="Source Sans 3"/>
              </a:rPr>
              <a:t>Fazit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E2648E85-85CC-CF30-1443-C60A5A3DD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92006-D325-4DB0-B1D2-7D1183539058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882095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AD9C6E69-D8DD-56AB-73AC-E0A6C24650A9}"/>
              </a:ext>
            </a:extLst>
          </p:cNvPr>
          <p:cNvSpPr txBox="1"/>
          <p:nvPr/>
        </p:nvSpPr>
        <p:spPr>
          <a:xfrm>
            <a:off x="609600" y="508000"/>
            <a:ext cx="5486400" cy="615553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de-DE" sz="3400" b="1">
                <a:solidFill>
                  <a:srgbClr val="FFFFFF"/>
                </a:solidFill>
                <a:latin typeface="Poppins" panose="00000500000000000000" pitchFamily="2" charset="0"/>
              </a:rPr>
              <a:t>Einleitung</a:t>
            </a:r>
          </a:p>
        </p:txBody>
      </p:sp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698BA761-C0CA-7B37-7A97-D21D1A00C191}"/>
              </a:ext>
            </a:extLst>
          </p:cNvPr>
          <p:cNvSpPr/>
          <p:nvPr/>
        </p:nvSpPr>
        <p:spPr>
          <a:xfrm>
            <a:off x="609600" y="1778000"/>
            <a:ext cx="2489200" cy="3048000"/>
          </a:xfrm>
          <a:prstGeom prst="roundRect">
            <a:avLst/>
          </a:prstGeom>
          <a:solidFill>
            <a:srgbClr val="111111"/>
          </a:solidFill>
          <a:ln w="12700">
            <a:solidFill>
              <a:srgbClr val="2222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F229DBB9-1C38-B939-E3DD-DEE49A33A73C}"/>
              </a:ext>
            </a:extLst>
          </p:cNvPr>
          <p:cNvSpPr/>
          <p:nvPr/>
        </p:nvSpPr>
        <p:spPr>
          <a:xfrm>
            <a:off x="838200" y="1981200"/>
            <a:ext cx="177800" cy="177800"/>
          </a:xfrm>
          <a:prstGeom prst="ellipse">
            <a:avLst/>
          </a:prstGeom>
          <a:solidFill>
            <a:srgbClr val="4C8B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99D0B7CF-7765-7908-43DC-DCC4CB95F919}"/>
              </a:ext>
            </a:extLst>
          </p:cNvPr>
          <p:cNvSpPr txBox="1"/>
          <p:nvPr/>
        </p:nvSpPr>
        <p:spPr>
          <a:xfrm>
            <a:off x="838200" y="2336800"/>
            <a:ext cx="2032000" cy="92333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de-DE" sz="1800" dirty="0">
                <a:solidFill>
                  <a:srgbClr val="FFFFFF"/>
                </a:solidFill>
                <a:latin typeface="Source Sans 3"/>
              </a:rPr>
              <a:t>Zuständigkeiten sind verteilt und schwer sichtbar</a:t>
            </a:r>
          </a:p>
        </p:txBody>
      </p:sp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BA2DDF1E-274A-9806-9A37-CC6B16E1F64A}"/>
              </a:ext>
            </a:extLst>
          </p:cNvPr>
          <p:cNvSpPr/>
          <p:nvPr/>
        </p:nvSpPr>
        <p:spPr>
          <a:xfrm>
            <a:off x="3327400" y="1778000"/>
            <a:ext cx="2489200" cy="3048000"/>
          </a:xfrm>
          <a:prstGeom prst="roundRect">
            <a:avLst/>
          </a:prstGeom>
          <a:solidFill>
            <a:srgbClr val="111111"/>
          </a:solidFill>
          <a:ln w="12700">
            <a:solidFill>
              <a:srgbClr val="2222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544545F6-BAED-552B-B5A7-01B9FAD2ED00}"/>
              </a:ext>
            </a:extLst>
          </p:cNvPr>
          <p:cNvSpPr/>
          <p:nvPr/>
        </p:nvSpPr>
        <p:spPr>
          <a:xfrm>
            <a:off x="3556000" y="1981200"/>
            <a:ext cx="177800" cy="177800"/>
          </a:xfrm>
          <a:prstGeom prst="ellipse">
            <a:avLst/>
          </a:prstGeom>
          <a:solidFill>
            <a:srgbClr val="4C8B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9298D6F7-0589-948F-D997-8A4A8D46EB31}"/>
              </a:ext>
            </a:extLst>
          </p:cNvPr>
          <p:cNvSpPr txBox="1"/>
          <p:nvPr/>
        </p:nvSpPr>
        <p:spPr>
          <a:xfrm>
            <a:off x="3556000" y="2336800"/>
            <a:ext cx="2032000" cy="92333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de-DE" sz="1800" dirty="0">
                <a:solidFill>
                  <a:srgbClr val="FFFFFF"/>
                </a:solidFill>
                <a:latin typeface="Source Sans 3"/>
              </a:rPr>
              <a:t>Kommunikation läuft über zu viele Kanäle</a:t>
            </a:r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866708AE-DAEA-D414-4D96-8B889D11795B}"/>
              </a:ext>
            </a:extLst>
          </p:cNvPr>
          <p:cNvSpPr/>
          <p:nvPr/>
        </p:nvSpPr>
        <p:spPr>
          <a:xfrm>
            <a:off x="6045200" y="1778000"/>
            <a:ext cx="2489200" cy="3048000"/>
          </a:xfrm>
          <a:prstGeom prst="roundRect">
            <a:avLst/>
          </a:prstGeom>
          <a:solidFill>
            <a:srgbClr val="111111"/>
          </a:solidFill>
          <a:ln w="12700">
            <a:solidFill>
              <a:srgbClr val="2222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4F31C888-8462-07A5-E7D1-79816FE2D9C2}"/>
              </a:ext>
            </a:extLst>
          </p:cNvPr>
          <p:cNvSpPr/>
          <p:nvPr/>
        </p:nvSpPr>
        <p:spPr>
          <a:xfrm>
            <a:off x="6273800" y="1981200"/>
            <a:ext cx="177800" cy="177800"/>
          </a:xfrm>
          <a:prstGeom prst="ellipse">
            <a:avLst/>
          </a:prstGeom>
          <a:solidFill>
            <a:srgbClr val="4C8B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6E9E6FEF-2339-5E1A-CC61-6246D473B0A5}"/>
              </a:ext>
            </a:extLst>
          </p:cNvPr>
          <p:cNvSpPr txBox="1"/>
          <p:nvPr/>
        </p:nvSpPr>
        <p:spPr>
          <a:xfrm>
            <a:off x="6273800" y="2336800"/>
            <a:ext cx="2032000" cy="92333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de-DE" sz="1800" dirty="0">
                <a:solidFill>
                  <a:srgbClr val="FFFFFF"/>
                </a:solidFill>
                <a:latin typeface="Source Sans 3"/>
              </a:rPr>
              <a:t>Reporting braucht Zeit und es fehlt Echtzeit</a:t>
            </a:r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CC6CB052-C13D-726E-C6E7-3B9226BEE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92006-D325-4DB0-B1D2-7D1183539058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912501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CE504900-72F5-85AD-42CA-D5F89F87E42F}"/>
              </a:ext>
            </a:extLst>
          </p:cNvPr>
          <p:cNvSpPr/>
          <p:nvPr/>
        </p:nvSpPr>
        <p:spPr>
          <a:xfrm>
            <a:off x="6045200" y="1778000"/>
            <a:ext cx="2489200" cy="3048000"/>
          </a:xfrm>
          <a:prstGeom prst="roundRect">
            <a:avLst/>
          </a:prstGeom>
          <a:solidFill>
            <a:srgbClr val="111111"/>
          </a:solidFill>
          <a:ln w="12700">
            <a:solidFill>
              <a:srgbClr val="2222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Rechteck: abgerundete Ecken 13">
            <a:extLst>
              <a:ext uri="{FF2B5EF4-FFF2-40B4-BE49-F238E27FC236}">
                <a16:creationId xmlns:a16="http://schemas.microsoft.com/office/drawing/2014/main" id="{A6371ABA-D11D-0018-9ACE-C9A9CC89DC55}"/>
              </a:ext>
            </a:extLst>
          </p:cNvPr>
          <p:cNvSpPr/>
          <p:nvPr/>
        </p:nvSpPr>
        <p:spPr>
          <a:xfrm>
            <a:off x="3327400" y="1778000"/>
            <a:ext cx="2489200" cy="3048000"/>
          </a:xfrm>
          <a:prstGeom prst="roundRect">
            <a:avLst/>
          </a:prstGeom>
          <a:solidFill>
            <a:srgbClr val="111111"/>
          </a:solidFill>
          <a:ln w="12700">
            <a:solidFill>
              <a:srgbClr val="2222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5650F401-7E35-FE89-7DA6-576EE2AC9768}"/>
              </a:ext>
            </a:extLst>
          </p:cNvPr>
          <p:cNvSpPr/>
          <p:nvPr/>
        </p:nvSpPr>
        <p:spPr>
          <a:xfrm>
            <a:off x="609600" y="1778000"/>
            <a:ext cx="2489200" cy="3048000"/>
          </a:xfrm>
          <a:prstGeom prst="roundRect">
            <a:avLst/>
          </a:prstGeom>
          <a:solidFill>
            <a:srgbClr val="111111"/>
          </a:solidFill>
          <a:ln w="12700">
            <a:solidFill>
              <a:srgbClr val="2222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5A1D0970-09E7-5792-FDDA-5C7C29B6A91F}"/>
              </a:ext>
            </a:extLst>
          </p:cNvPr>
          <p:cNvSpPr txBox="1"/>
          <p:nvPr/>
        </p:nvSpPr>
        <p:spPr>
          <a:xfrm>
            <a:off x="609600" y="508000"/>
            <a:ext cx="5486400" cy="615553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de-DE" sz="3400" b="1">
                <a:solidFill>
                  <a:srgbClr val="FFFFFF"/>
                </a:solidFill>
                <a:latin typeface="Poppins" panose="00000500000000000000" pitchFamily="2" charset="0"/>
              </a:rPr>
              <a:t>Zielsetzung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E13A9D72-0A76-97D0-8B1E-2767FF71C929}"/>
              </a:ext>
            </a:extLst>
          </p:cNvPr>
          <p:cNvSpPr/>
          <p:nvPr/>
        </p:nvSpPr>
        <p:spPr>
          <a:xfrm>
            <a:off x="838200" y="2032000"/>
            <a:ext cx="50800" cy="355600"/>
          </a:xfrm>
          <a:prstGeom prst="rect">
            <a:avLst/>
          </a:prstGeom>
          <a:solidFill>
            <a:srgbClr val="4C8BFF"/>
          </a:solidFill>
          <a:ln w="0">
            <a:solidFill>
              <a:srgbClr val="4C8B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0D941843-9C60-3C04-DF7B-15FBDCF5ADC0}"/>
              </a:ext>
            </a:extLst>
          </p:cNvPr>
          <p:cNvSpPr txBox="1"/>
          <p:nvPr/>
        </p:nvSpPr>
        <p:spPr>
          <a:xfrm>
            <a:off x="889000" y="2032000"/>
            <a:ext cx="2026816" cy="92333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de-DE" sz="1800" dirty="0">
                <a:solidFill>
                  <a:srgbClr val="FFFFFF"/>
                </a:solidFill>
                <a:latin typeface="Source Sans 3"/>
              </a:rPr>
              <a:t>Bessere Planung und Überblick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F6F7C832-CA3B-9422-3488-F7CF083F4B37}"/>
              </a:ext>
            </a:extLst>
          </p:cNvPr>
          <p:cNvSpPr/>
          <p:nvPr/>
        </p:nvSpPr>
        <p:spPr>
          <a:xfrm>
            <a:off x="3556000" y="2032000"/>
            <a:ext cx="50800" cy="355600"/>
          </a:xfrm>
          <a:prstGeom prst="rect">
            <a:avLst/>
          </a:prstGeom>
          <a:solidFill>
            <a:srgbClr val="4C8BFF"/>
          </a:solidFill>
          <a:ln w="0">
            <a:solidFill>
              <a:srgbClr val="4C8B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8788C1BD-07CC-BDA9-AFAF-99742208CEFC}"/>
              </a:ext>
            </a:extLst>
          </p:cNvPr>
          <p:cNvSpPr txBox="1"/>
          <p:nvPr/>
        </p:nvSpPr>
        <p:spPr>
          <a:xfrm>
            <a:off x="3606800" y="2032000"/>
            <a:ext cx="2035534" cy="609476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de-DE" sz="1800" dirty="0">
                <a:solidFill>
                  <a:srgbClr val="FFFFFF"/>
                </a:solidFill>
                <a:latin typeface="Source Sans 3"/>
              </a:rPr>
              <a:t>Schnelle Kommunikation 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06D486C7-0C10-54FD-7651-73C0AA7821BE}"/>
              </a:ext>
            </a:extLst>
          </p:cNvPr>
          <p:cNvSpPr/>
          <p:nvPr/>
        </p:nvSpPr>
        <p:spPr>
          <a:xfrm>
            <a:off x="6273800" y="2032000"/>
            <a:ext cx="50800" cy="355600"/>
          </a:xfrm>
          <a:prstGeom prst="rect">
            <a:avLst/>
          </a:prstGeom>
          <a:solidFill>
            <a:srgbClr val="4C8BFF"/>
          </a:solidFill>
          <a:ln w="0">
            <a:solidFill>
              <a:srgbClr val="4C8B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709D8BC2-4A58-5263-6CF2-F5A8A8C063B2}"/>
              </a:ext>
            </a:extLst>
          </p:cNvPr>
          <p:cNvSpPr txBox="1"/>
          <p:nvPr/>
        </p:nvSpPr>
        <p:spPr>
          <a:xfrm>
            <a:off x="6350000" y="2005327"/>
            <a:ext cx="2159000" cy="950004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de-DE" sz="1800" dirty="0">
                <a:solidFill>
                  <a:srgbClr val="FFFFFF"/>
                </a:solidFill>
                <a:latin typeface="Source Sans 3"/>
              </a:rPr>
              <a:t>Messbarer Fortschritt für Manager und Teams</a:t>
            </a:r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D6C63B83-9F2C-8771-3BA3-84EEB5B5D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92006-D325-4DB0-B1D2-7D1183539058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479793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feld 12">
            <a:extLst>
              <a:ext uri="{FF2B5EF4-FFF2-40B4-BE49-F238E27FC236}">
                <a16:creationId xmlns:a16="http://schemas.microsoft.com/office/drawing/2014/main" id="{97D0023F-B872-1B4D-1062-7CDAD735E654}"/>
              </a:ext>
            </a:extLst>
          </p:cNvPr>
          <p:cNvSpPr txBox="1"/>
          <p:nvPr/>
        </p:nvSpPr>
        <p:spPr>
          <a:xfrm>
            <a:off x="609600" y="431800"/>
            <a:ext cx="5486400" cy="52322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de-DE" sz="2800" b="1">
                <a:solidFill>
                  <a:srgbClr val="FFFFFF"/>
                </a:solidFill>
                <a:latin typeface="Poppins" panose="00000500000000000000" pitchFamily="2" charset="0"/>
              </a:rPr>
              <a:t>Technische Architektur</a:t>
            </a:r>
          </a:p>
        </p:txBody>
      </p:sp>
      <p:sp>
        <p:nvSpPr>
          <p:cNvPr id="14" name="Rechteck: abgerundete Ecken 13">
            <a:extLst>
              <a:ext uri="{FF2B5EF4-FFF2-40B4-BE49-F238E27FC236}">
                <a16:creationId xmlns:a16="http://schemas.microsoft.com/office/drawing/2014/main" id="{D7D83DFB-E28B-20BE-C8CF-AE54D2B6C14F}"/>
              </a:ext>
            </a:extLst>
          </p:cNvPr>
          <p:cNvSpPr/>
          <p:nvPr/>
        </p:nvSpPr>
        <p:spPr>
          <a:xfrm>
            <a:off x="1463040" y="1206500"/>
            <a:ext cx="6217920" cy="990600"/>
          </a:xfrm>
          <a:prstGeom prst="roundRect">
            <a:avLst/>
          </a:prstGeom>
          <a:solidFill>
            <a:srgbClr val="111111"/>
          </a:solidFill>
          <a:ln w="12700">
            <a:solidFill>
              <a:srgbClr val="2222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545BAF0F-FE8D-C055-3C58-65AEB8C4BD02}"/>
              </a:ext>
            </a:extLst>
          </p:cNvPr>
          <p:cNvSpPr txBox="1"/>
          <p:nvPr/>
        </p:nvSpPr>
        <p:spPr>
          <a:xfrm>
            <a:off x="1666240" y="1308100"/>
            <a:ext cx="5811520" cy="323165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de-DE" sz="1500" b="1">
                <a:solidFill>
                  <a:srgbClr val="FFFFFF"/>
                </a:solidFill>
                <a:latin typeface="Source Sans 3"/>
              </a:rPr>
              <a:t>Frontend (React Native + Expo)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CD2A4419-1DC0-FB8F-475F-19ABE54C9491}"/>
              </a:ext>
            </a:extLst>
          </p:cNvPr>
          <p:cNvSpPr txBox="1"/>
          <p:nvPr/>
        </p:nvSpPr>
        <p:spPr>
          <a:xfrm>
            <a:off x="1666240" y="1587500"/>
            <a:ext cx="5811520" cy="600164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100" dirty="0">
                <a:solidFill>
                  <a:srgbClr val="999999"/>
                </a:solidFill>
                <a:latin typeface="Source Sans 3"/>
              </a:rPr>
              <a:t>Navigation: React Navigation
State: Redux Toolkit + Persist
API: REST + WebSocket (STOMP)</a:t>
            </a:r>
            <a:endParaRPr lang="de-DE" sz="1100" dirty="0">
              <a:solidFill>
                <a:srgbClr val="999999"/>
              </a:solidFill>
              <a:latin typeface="Source Sans 3"/>
            </a:endParaRPr>
          </a:p>
        </p:txBody>
      </p:sp>
      <p:sp>
        <p:nvSpPr>
          <p:cNvPr id="17" name="Rechteck: abgerundete Ecken 16">
            <a:extLst>
              <a:ext uri="{FF2B5EF4-FFF2-40B4-BE49-F238E27FC236}">
                <a16:creationId xmlns:a16="http://schemas.microsoft.com/office/drawing/2014/main" id="{960A5FCE-BC02-698E-52CB-812B4F1A1467}"/>
              </a:ext>
            </a:extLst>
          </p:cNvPr>
          <p:cNvSpPr/>
          <p:nvPr/>
        </p:nvSpPr>
        <p:spPr>
          <a:xfrm>
            <a:off x="1463040" y="2451100"/>
            <a:ext cx="6217920" cy="1905000"/>
          </a:xfrm>
          <a:prstGeom prst="roundRect">
            <a:avLst/>
          </a:prstGeom>
          <a:solidFill>
            <a:srgbClr val="111111"/>
          </a:solidFill>
          <a:ln w="12700">
            <a:solidFill>
              <a:srgbClr val="2222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776955A8-BCA5-EC5A-3865-12B281731004}"/>
              </a:ext>
            </a:extLst>
          </p:cNvPr>
          <p:cNvSpPr txBox="1"/>
          <p:nvPr/>
        </p:nvSpPr>
        <p:spPr>
          <a:xfrm>
            <a:off x="1666240" y="2552700"/>
            <a:ext cx="5811520" cy="323165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de-DE" sz="1500" b="1">
                <a:solidFill>
                  <a:srgbClr val="FFFFFF"/>
                </a:solidFill>
                <a:latin typeface="Source Sans 3"/>
              </a:rPr>
              <a:t>Backend (Spring Boot 3)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15096175-AD59-3BF3-AE3C-799A6BEC4078}"/>
              </a:ext>
            </a:extLst>
          </p:cNvPr>
          <p:cNvSpPr txBox="1"/>
          <p:nvPr/>
        </p:nvSpPr>
        <p:spPr>
          <a:xfrm>
            <a:off x="1717040" y="2908300"/>
            <a:ext cx="1778000" cy="276999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de-DE" sz="1200">
                <a:solidFill>
                  <a:srgbClr val="FFFFFF"/>
                </a:solidFill>
                <a:latin typeface="Source Sans 3"/>
              </a:rPr>
              <a:t>Controller</a:t>
            </a:r>
          </a:p>
        </p:txBody>
      </p: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12AF637F-EC04-C20C-CCD4-43B626C69E93}"/>
              </a:ext>
            </a:extLst>
          </p:cNvPr>
          <p:cNvCxnSpPr/>
          <p:nvPr/>
        </p:nvCxnSpPr>
        <p:spPr>
          <a:xfrm>
            <a:off x="1666240" y="3136900"/>
            <a:ext cx="5811520" cy="0"/>
          </a:xfrm>
          <a:prstGeom prst="line">
            <a:avLst/>
          </a:prstGeom>
          <a:ln w="12700">
            <a:solidFill>
              <a:srgbClr val="22222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feld 20">
            <a:extLst>
              <a:ext uri="{FF2B5EF4-FFF2-40B4-BE49-F238E27FC236}">
                <a16:creationId xmlns:a16="http://schemas.microsoft.com/office/drawing/2014/main" id="{05516D64-6BCC-0BD4-174C-A0B6B06D45AD}"/>
              </a:ext>
            </a:extLst>
          </p:cNvPr>
          <p:cNvSpPr txBox="1"/>
          <p:nvPr/>
        </p:nvSpPr>
        <p:spPr>
          <a:xfrm>
            <a:off x="1717040" y="3187700"/>
            <a:ext cx="1778000" cy="276999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de-DE" sz="1200">
                <a:solidFill>
                  <a:srgbClr val="FFFFFF"/>
                </a:solidFill>
                <a:latin typeface="Source Sans 3"/>
              </a:rPr>
              <a:t>Service</a:t>
            </a:r>
          </a:p>
        </p:txBody>
      </p: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87608AB6-C6E4-4FA5-0E3E-ED5B69E4D5E1}"/>
              </a:ext>
            </a:extLst>
          </p:cNvPr>
          <p:cNvCxnSpPr/>
          <p:nvPr/>
        </p:nvCxnSpPr>
        <p:spPr>
          <a:xfrm>
            <a:off x="1666240" y="3416300"/>
            <a:ext cx="5811520" cy="0"/>
          </a:xfrm>
          <a:prstGeom prst="line">
            <a:avLst/>
          </a:prstGeom>
          <a:ln w="12700">
            <a:solidFill>
              <a:srgbClr val="22222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feld 22">
            <a:extLst>
              <a:ext uri="{FF2B5EF4-FFF2-40B4-BE49-F238E27FC236}">
                <a16:creationId xmlns:a16="http://schemas.microsoft.com/office/drawing/2014/main" id="{1E32C6FE-EE76-6DFE-07C4-CB964079B992}"/>
              </a:ext>
            </a:extLst>
          </p:cNvPr>
          <p:cNvSpPr txBox="1"/>
          <p:nvPr/>
        </p:nvSpPr>
        <p:spPr>
          <a:xfrm>
            <a:off x="1717040" y="3467100"/>
            <a:ext cx="1778000" cy="276999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de-DE" sz="1200">
                <a:solidFill>
                  <a:srgbClr val="FFFFFF"/>
                </a:solidFill>
                <a:latin typeface="Source Sans 3"/>
              </a:rPr>
              <a:t>Repository</a:t>
            </a:r>
            <a:endParaRPr lang="de-DE" sz="1200" dirty="0">
              <a:solidFill>
                <a:srgbClr val="FFFFFF"/>
              </a:solidFill>
              <a:latin typeface="Source Sans 3"/>
            </a:endParaRPr>
          </a:p>
        </p:txBody>
      </p: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DF470A71-ED4A-9164-3129-09487CF5AADB}"/>
              </a:ext>
            </a:extLst>
          </p:cNvPr>
          <p:cNvCxnSpPr/>
          <p:nvPr/>
        </p:nvCxnSpPr>
        <p:spPr>
          <a:xfrm>
            <a:off x="1666240" y="3695700"/>
            <a:ext cx="5811520" cy="0"/>
          </a:xfrm>
          <a:prstGeom prst="line">
            <a:avLst/>
          </a:prstGeom>
          <a:ln w="12700">
            <a:solidFill>
              <a:srgbClr val="22222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feld 24">
            <a:extLst>
              <a:ext uri="{FF2B5EF4-FFF2-40B4-BE49-F238E27FC236}">
                <a16:creationId xmlns:a16="http://schemas.microsoft.com/office/drawing/2014/main" id="{C3B6BCC5-711B-C298-6F58-6184CC0EDF03}"/>
              </a:ext>
            </a:extLst>
          </p:cNvPr>
          <p:cNvSpPr txBox="1"/>
          <p:nvPr/>
        </p:nvSpPr>
        <p:spPr>
          <a:xfrm>
            <a:off x="1717040" y="3746500"/>
            <a:ext cx="1778000" cy="276999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de-DE" sz="1200" dirty="0">
                <a:solidFill>
                  <a:srgbClr val="FFFFFF"/>
                </a:solidFill>
                <a:latin typeface="Source Sans 3"/>
              </a:rPr>
              <a:t>Entity</a:t>
            </a:r>
          </a:p>
          <a:p>
            <a:endParaRPr lang="de-DE" sz="1200" dirty="0">
              <a:solidFill>
                <a:srgbClr val="FFFFFF"/>
              </a:solidFill>
              <a:latin typeface="Source Sans 3"/>
            </a:endParaRP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C3E5AB0A-0612-0010-BF35-A56C0D2EDFA2}"/>
              </a:ext>
            </a:extLst>
          </p:cNvPr>
          <p:cNvSpPr txBox="1"/>
          <p:nvPr/>
        </p:nvSpPr>
        <p:spPr>
          <a:xfrm>
            <a:off x="5028979" y="2591389"/>
            <a:ext cx="2397981" cy="463491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de-DE" sz="1000" dirty="0">
                <a:solidFill>
                  <a:srgbClr val="999999"/>
                </a:solidFill>
                <a:latin typeface="Source Sans 3"/>
              </a:rPr>
              <a:t>Spring Web, Security/JWT, Data JPA
</a:t>
            </a:r>
            <a:r>
              <a:rPr lang="de-DE" sz="1000" dirty="0" err="1">
                <a:solidFill>
                  <a:srgbClr val="999999"/>
                </a:solidFill>
                <a:latin typeface="Source Sans 3"/>
              </a:rPr>
              <a:t>WebSocket</a:t>
            </a:r>
            <a:r>
              <a:rPr lang="de-DE" sz="1000" dirty="0">
                <a:solidFill>
                  <a:srgbClr val="999999"/>
                </a:solidFill>
                <a:latin typeface="Source Sans 3"/>
              </a:rPr>
              <a:t>/STOMP, </a:t>
            </a:r>
            <a:r>
              <a:rPr lang="de-DE" sz="1000" dirty="0" err="1">
                <a:solidFill>
                  <a:srgbClr val="999999"/>
                </a:solidFill>
                <a:latin typeface="Source Sans 3"/>
              </a:rPr>
              <a:t>MapStruct</a:t>
            </a:r>
            <a:r>
              <a:rPr lang="de-DE" sz="1000" dirty="0">
                <a:solidFill>
                  <a:srgbClr val="999999"/>
                </a:solidFill>
                <a:latin typeface="Source Sans 3"/>
              </a:rPr>
              <a:t>, </a:t>
            </a:r>
            <a:r>
              <a:rPr lang="de-DE" sz="1000" dirty="0" err="1">
                <a:solidFill>
                  <a:srgbClr val="999999"/>
                </a:solidFill>
                <a:latin typeface="Source Sans 3"/>
              </a:rPr>
              <a:t>OpenAPI</a:t>
            </a:r>
            <a:endParaRPr lang="de-DE" sz="1000" dirty="0">
              <a:solidFill>
                <a:srgbClr val="999999"/>
              </a:solidFill>
              <a:latin typeface="Source Sans 3"/>
            </a:endParaRPr>
          </a:p>
        </p:txBody>
      </p:sp>
      <p:sp>
        <p:nvSpPr>
          <p:cNvPr id="28" name="Rechteck: abgerundete Ecken 27">
            <a:extLst>
              <a:ext uri="{FF2B5EF4-FFF2-40B4-BE49-F238E27FC236}">
                <a16:creationId xmlns:a16="http://schemas.microsoft.com/office/drawing/2014/main" id="{0D794E11-0E57-61A7-3D15-40CE30AD1A16}"/>
              </a:ext>
            </a:extLst>
          </p:cNvPr>
          <p:cNvSpPr/>
          <p:nvPr/>
        </p:nvSpPr>
        <p:spPr>
          <a:xfrm>
            <a:off x="3429000" y="4610100"/>
            <a:ext cx="2286000" cy="76200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2222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90F4B036-61A8-9196-1B55-1F76333F0CBD}"/>
              </a:ext>
            </a:extLst>
          </p:cNvPr>
          <p:cNvSpPr txBox="1"/>
          <p:nvPr/>
        </p:nvSpPr>
        <p:spPr>
          <a:xfrm>
            <a:off x="3429000" y="4787900"/>
            <a:ext cx="2286000" cy="29238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de-DE" sz="1300" b="1" dirty="0">
                <a:solidFill>
                  <a:srgbClr val="FFFFFF"/>
                </a:solidFill>
                <a:latin typeface="Source Sans 3"/>
              </a:rPr>
              <a:t>PostgreSQL</a:t>
            </a:r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3AA2C6E4-7119-B6B8-297B-07EFA5156C5B}"/>
              </a:ext>
            </a:extLst>
          </p:cNvPr>
          <p:cNvSpPr txBox="1"/>
          <p:nvPr/>
        </p:nvSpPr>
        <p:spPr>
          <a:xfrm>
            <a:off x="3429000" y="5041900"/>
            <a:ext cx="2286000" cy="246221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de-DE" sz="1000">
                <a:solidFill>
                  <a:srgbClr val="999999"/>
                </a:solidFill>
                <a:latin typeface="Source Sans 3"/>
              </a:rPr>
              <a:t>H2 (Tests)</a:t>
            </a:r>
          </a:p>
        </p:txBody>
      </p:sp>
      <p:cxnSp>
        <p:nvCxnSpPr>
          <p:cNvPr id="35" name="Gerader Verbinder 34">
            <a:extLst>
              <a:ext uri="{FF2B5EF4-FFF2-40B4-BE49-F238E27FC236}">
                <a16:creationId xmlns:a16="http://schemas.microsoft.com/office/drawing/2014/main" id="{38EAC5B0-8FB9-582F-CA6F-7C2AD55E8739}"/>
              </a:ext>
            </a:extLst>
          </p:cNvPr>
          <p:cNvCxnSpPr/>
          <p:nvPr/>
        </p:nvCxnSpPr>
        <p:spPr>
          <a:xfrm>
            <a:off x="4572000" y="2197100"/>
            <a:ext cx="0" cy="254000"/>
          </a:xfrm>
          <a:prstGeom prst="line">
            <a:avLst/>
          </a:prstGeom>
          <a:ln w="25400">
            <a:solidFill>
              <a:srgbClr val="4C8B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feld 35">
            <a:extLst>
              <a:ext uri="{FF2B5EF4-FFF2-40B4-BE49-F238E27FC236}">
                <a16:creationId xmlns:a16="http://schemas.microsoft.com/office/drawing/2014/main" id="{149B6C6C-AFF0-7E11-F120-161BCB5F4CCD}"/>
              </a:ext>
            </a:extLst>
          </p:cNvPr>
          <p:cNvSpPr txBox="1"/>
          <p:nvPr/>
        </p:nvSpPr>
        <p:spPr>
          <a:xfrm>
            <a:off x="4724400" y="2235200"/>
            <a:ext cx="1524000" cy="246221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de-DE" sz="1000">
                <a:solidFill>
                  <a:srgbClr val="999999"/>
                </a:solidFill>
                <a:latin typeface="Source Sans 3"/>
              </a:rPr>
              <a:t>REST/JSON + WS</a:t>
            </a:r>
          </a:p>
        </p:txBody>
      </p:sp>
      <p:cxnSp>
        <p:nvCxnSpPr>
          <p:cNvPr id="37" name="Gerader Verbinder 36">
            <a:extLst>
              <a:ext uri="{FF2B5EF4-FFF2-40B4-BE49-F238E27FC236}">
                <a16:creationId xmlns:a16="http://schemas.microsoft.com/office/drawing/2014/main" id="{4D8F6B53-6019-1EC9-E454-97D7C33B5F97}"/>
              </a:ext>
            </a:extLst>
          </p:cNvPr>
          <p:cNvCxnSpPr/>
          <p:nvPr/>
        </p:nvCxnSpPr>
        <p:spPr>
          <a:xfrm>
            <a:off x="4572000" y="4356100"/>
            <a:ext cx="0" cy="254000"/>
          </a:xfrm>
          <a:prstGeom prst="line">
            <a:avLst/>
          </a:prstGeom>
          <a:ln w="25400">
            <a:solidFill>
              <a:srgbClr val="4C8B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feld 37">
            <a:extLst>
              <a:ext uri="{FF2B5EF4-FFF2-40B4-BE49-F238E27FC236}">
                <a16:creationId xmlns:a16="http://schemas.microsoft.com/office/drawing/2014/main" id="{7EC4C0A6-BFB7-A0D9-1530-916F34730348}"/>
              </a:ext>
            </a:extLst>
          </p:cNvPr>
          <p:cNvSpPr txBox="1"/>
          <p:nvPr/>
        </p:nvSpPr>
        <p:spPr>
          <a:xfrm>
            <a:off x="4724400" y="4394200"/>
            <a:ext cx="1143000" cy="246221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de-DE" sz="1000">
                <a:solidFill>
                  <a:srgbClr val="999999"/>
                </a:solidFill>
                <a:latin typeface="Source Sans 3"/>
              </a:rPr>
              <a:t>SQL / JPA</a:t>
            </a:r>
          </a:p>
        </p:txBody>
      </p:sp>
      <p:cxnSp>
        <p:nvCxnSpPr>
          <p:cNvPr id="2" name="Gerader Verbinder 1">
            <a:extLst>
              <a:ext uri="{FF2B5EF4-FFF2-40B4-BE49-F238E27FC236}">
                <a16:creationId xmlns:a16="http://schemas.microsoft.com/office/drawing/2014/main" id="{97BBD929-0047-67B5-6AAB-D84DF8F6D0FD}"/>
              </a:ext>
            </a:extLst>
          </p:cNvPr>
          <p:cNvCxnSpPr>
            <a:cxnSpLocks/>
          </p:cNvCxnSpPr>
          <p:nvPr/>
        </p:nvCxnSpPr>
        <p:spPr>
          <a:xfrm flipV="1">
            <a:off x="4724400" y="2187664"/>
            <a:ext cx="0" cy="250356"/>
          </a:xfrm>
          <a:prstGeom prst="line">
            <a:avLst/>
          </a:prstGeom>
          <a:ln w="25400">
            <a:solidFill>
              <a:srgbClr val="4C8B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Gerader Verbinder 3">
            <a:extLst>
              <a:ext uri="{FF2B5EF4-FFF2-40B4-BE49-F238E27FC236}">
                <a16:creationId xmlns:a16="http://schemas.microsoft.com/office/drawing/2014/main" id="{8DBA3818-739B-5621-48F4-AD383D350C00}"/>
              </a:ext>
            </a:extLst>
          </p:cNvPr>
          <p:cNvCxnSpPr>
            <a:cxnSpLocks/>
          </p:cNvCxnSpPr>
          <p:nvPr/>
        </p:nvCxnSpPr>
        <p:spPr>
          <a:xfrm flipV="1">
            <a:off x="4352014" y="4356100"/>
            <a:ext cx="0" cy="250356"/>
          </a:xfrm>
          <a:prstGeom prst="line">
            <a:avLst/>
          </a:prstGeom>
          <a:ln w="25400">
            <a:solidFill>
              <a:srgbClr val="4C8B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62786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AF1B9F86-BAC6-D65B-4838-767B9C7F537F}"/>
              </a:ext>
            </a:extLst>
          </p:cNvPr>
          <p:cNvSpPr/>
          <p:nvPr/>
        </p:nvSpPr>
        <p:spPr>
          <a:xfrm>
            <a:off x="4716016" y="3362796"/>
            <a:ext cx="3848100" cy="2159000"/>
          </a:xfrm>
          <a:prstGeom prst="roundRect">
            <a:avLst/>
          </a:prstGeom>
          <a:solidFill>
            <a:srgbClr val="111111"/>
          </a:solidFill>
          <a:ln w="12700">
            <a:solidFill>
              <a:srgbClr val="2222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91D1C611-56EC-0413-7E09-525BEDFB3642}"/>
              </a:ext>
            </a:extLst>
          </p:cNvPr>
          <p:cNvSpPr txBox="1"/>
          <p:nvPr/>
        </p:nvSpPr>
        <p:spPr>
          <a:xfrm>
            <a:off x="683568" y="335776"/>
            <a:ext cx="5486400" cy="615553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de-DE" sz="3400" b="1" dirty="0">
                <a:solidFill>
                  <a:srgbClr val="FFFFFF"/>
                </a:solidFill>
                <a:latin typeface="Poppins" panose="00000500000000000000" pitchFamily="2" charset="0"/>
              </a:rPr>
              <a:t>Features</a:t>
            </a:r>
          </a:p>
        </p:txBody>
      </p:sp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DB084F39-B06B-2177-184E-43A0A0C1EAA9}"/>
              </a:ext>
            </a:extLst>
          </p:cNvPr>
          <p:cNvSpPr/>
          <p:nvPr/>
        </p:nvSpPr>
        <p:spPr>
          <a:xfrm>
            <a:off x="579884" y="1100829"/>
            <a:ext cx="3848100" cy="2159000"/>
          </a:xfrm>
          <a:prstGeom prst="roundRect">
            <a:avLst/>
          </a:prstGeom>
          <a:solidFill>
            <a:srgbClr val="111111"/>
          </a:solidFill>
          <a:ln w="12700">
            <a:solidFill>
              <a:srgbClr val="2222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ctr"/>
            <a:endParaRPr lang="de-DE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E05AE673-327F-3B49-C7CA-E2F6C581FE8D}"/>
              </a:ext>
            </a:extLst>
          </p:cNvPr>
          <p:cNvSpPr txBox="1"/>
          <p:nvPr/>
        </p:nvSpPr>
        <p:spPr>
          <a:xfrm>
            <a:off x="783084" y="1253229"/>
            <a:ext cx="34417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de-DE" sz="1800" b="1" dirty="0">
                <a:solidFill>
                  <a:srgbClr val="FFFFFF"/>
                </a:solidFill>
                <a:latin typeface="Source Sans 3"/>
              </a:rPr>
              <a:t>Task Hub</a:t>
            </a:r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643F99B9-18E8-52D6-701A-E4911EEE32E2}"/>
              </a:ext>
            </a:extLst>
          </p:cNvPr>
          <p:cNvSpPr/>
          <p:nvPr/>
        </p:nvSpPr>
        <p:spPr>
          <a:xfrm>
            <a:off x="4716016" y="1092839"/>
            <a:ext cx="3848100" cy="2159000"/>
          </a:xfrm>
          <a:prstGeom prst="roundRect">
            <a:avLst/>
          </a:prstGeom>
          <a:solidFill>
            <a:srgbClr val="111111"/>
          </a:solidFill>
          <a:ln w="12700">
            <a:solidFill>
              <a:srgbClr val="2222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B8A01FC6-9EDA-D3AD-3C24-4544ADEE4FED}"/>
              </a:ext>
            </a:extLst>
          </p:cNvPr>
          <p:cNvSpPr txBox="1"/>
          <p:nvPr/>
        </p:nvSpPr>
        <p:spPr>
          <a:xfrm>
            <a:off x="4919216" y="1245239"/>
            <a:ext cx="34417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de-DE" sz="1800" b="1">
                <a:solidFill>
                  <a:srgbClr val="FFFFFF"/>
                </a:solidFill>
                <a:latin typeface="Source Sans 3"/>
              </a:rPr>
              <a:t>Requests und Chats</a:t>
            </a:r>
          </a:p>
        </p:txBody>
      </p:sp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2D141FB4-DEAA-F2FE-A786-FC2CDF098224}"/>
              </a:ext>
            </a:extLst>
          </p:cNvPr>
          <p:cNvSpPr/>
          <p:nvPr/>
        </p:nvSpPr>
        <p:spPr>
          <a:xfrm>
            <a:off x="579884" y="3362796"/>
            <a:ext cx="3848100" cy="2159000"/>
          </a:xfrm>
          <a:prstGeom prst="roundRect">
            <a:avLst/>
          </a:prstGeom>
          <a:solidFill>
            <a:srgbClr val="111111"/>
          </a:solidFill>
          <a:ln w="12700">
            <a:solidFill>
              <a:srgbClr val="2222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377B4EDF-BD59-EE0F-F86C-C67007D19435}"/>
              </a:ext>
            </a:extLst>
          </p:cNvPr>
          <p:cNvSpPr txBox="1"/>
          <p:nvPr/>
        </p:nvSpPr>
        <p:spPr>
          <a:xfrm>
            <a:off x="812800" y="3567615"/>
            <a:ext cx="34417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de-DE" sz="1800" b="1" dirty="0">
                <a:solidFill>
                  <a:srgbClr val="FFFFFF"/>
                </a:solidFill>
                <a:latin typeface="Source Sans 3"/>
              </a:rPr>
              <a:t>Dashboard KPIs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D6B791A3-7786-4199-FB56-ABBA7B543441}"/>
              </a:ext>
            </a:extLst>
          </p:cNvPr>
          <p:cNvSpPr txBox="1"/>
          <p:nvPr/>
        </p:nvSpPr>
        <p:spPr>
          <a:xfrm>
            <a:off x="4919216" y="3429813"/>
            <a:ext cx="34417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de-DE" sz="1800" b="1">
                <a:solidFill>
                  <a:srgbClr val="FFFFFF"/>
                </a:solidFill>
                <a:latin typeface="Source Sans 3"/>
              </a:rPr>
              <a:t>Kalender und Planung</a:t>
            </a:r>
          </a:p>
        </p:txBody>
      </p:sp>
      <p:sp>
        <p:nvSpPr>
          <p:cNvPr id="19" name="Foliennummernplatzhalter 18">
            <a:extLst>
              <a:ext uri="{FF2B5EF4-FFF2-40B4-BE49-F238E27FC236}">
                <a16:creationId xmlns:a16="http://schemas.microsoft.com/office/drawing/2014/main" id="{230CE90F-DBE0-8A40-A710-A93E35A99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27687" y="5445825"/>
            <a:ext cx="2057400" cy="304271"/>
          </a:xfrm>
        </p:spPr>
        <p:txBody>
          <a:bodyPr/>
          <a:lstStyle/>
          <a:p>
            <a:fld id="{04492006-D325-4DB0-B1D2-7D1183539058}" type="slidenum">
              <a:rPr lang="de-DE" smtClean="0"/>
              <a:t>6</a:t>
            </a:fld>
            <a:endParaRPr lang="de-DE" dirty="0"/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689ECC12-7A5F-F420-CDC1-AFB249EF9E1C}"/>
              </a:ext>
            </a:extLst>
          </p:cNvPr>
          <p:cNvSpPr txBox="1"/>
          <p:nvPr/>
        </p:nvSpPr>
        <p:spPr>
          <a:xfrm>
            <a:off x="812800" y="1578205"/>
            <a:ext cx="3441700" cy="1604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4072CE"/>
              </a:buClr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bg1"/>
                </a:solidFill>
              </a:rPr>
              <a:t>Task Erstellen</a:t>
            </a:r>
          </a:p>
          <a:p>
            <a:pPr marL="285750" indent="-285750">
              <a:buClr>
                <a:srgbClr val="4072CE"/>
              </a:buClr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bg1"/>
                </a:solidFill>
              </a:rPr>
              <a:t>Task bearbeiten</a:t>
            </a:r>
          </a:p>
          <a:p>
            <a:pPr marL="285750" indent="-285750">
              <a:buClr>
                <a:srgbClr val="4072CE"/>
              </a:buClr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bg1"/>
                </a:solidFill>
              </a:rPr>
              <a:t>Task löschen</a:t>
            </a:r>
          </a:p>
          <a:p>
            <a:pPr marL="285750" indent="-285750">
              <a:buClr>
                <a:srgbClr val="4072CE"/>
              </a:buClr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bg1"/>
                </a:solidFill>
              </a:rPr>
              <a:t>Task Details ansehen</a:t>
            </a:r>
          </a:p>
          <a:p>
            <a:pPr marL="285750" indent="-285750">
              <a:buClr>
                <a:srgbClr val="4072CE"/>
              </a:buClr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bg1"/>
                </a:solidFill>
              </a:rPr>
              <a:t>Task Status sortieren</a:t>
            </a:r>
          </a:p>
          <a:p>
            <a:pPr marL="285750" indent="-285750">
              <a:buClr>
                <a:srgbClr val="4072CE"/>
              </a:buClr>
              <a:buSzPct val="100000"/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bg1"/>
                </a:solidFill>
              </a:rPr>
              <a:t>Arbeiter sortieren</a:t>
            </a:r>
          </a:p>
          <a:p>
            <a:pPr marL="285750" indent="-285750">
              <a:buClr>
                <a:srgbClr val="4072CE"/>
              </a:buClr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bg1"/>
                </a:solidFill>
              </a:rPr>
              <a:t>Zusätzliche Arbeiter nachfragen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DE41126C-4149-9B49-7EE9-B972DDF05146}"/>
              </a:ext>
            </a:extLst>
          </p:cNvPr>
          <p:cNvSpPr txBox="1"/>
          <p:nvPr/>
        </p:nvSpPr>
        <p:spPr>
          <a:xfrm>
            <a:off x="4919216" y="1614571"/>
            <a:ext cx="3441700" cy="1172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4072CE"/>
              </a:buClr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bg1"/>
                </a:solidFill>
              </a:rPr>
              <a:t>Bereich zum Annehmen / Ablehnen von Angeboten</a:t>
            </a:r>
          </a:p>
          <a:p>
            <a:pPr marL="285750" indent="-285750">
              <a:buClr>
                <a:srgbClr val="4072CE"/>
              </a:buClr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bg1"/>
                </a:solidFill>
              </a:rPr>
              <a:t>Gruppenchat mit Manager und Arbeitern </a:t>
            </a:r>
          </a:p>
          <a:p>
            <a:pPr marL="285750" indent="-285750">
              <a:buClr>
                <a:srgbClr val="4072CE"/>
              </a:buClr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bg1"/>
                </a:solidFill>
              </a:rPr>
              <a:t>Privat Chat mit Manager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CB6EA1D9-1C04-7396-8E88-460E7672E805}"/>
              </a:ext>
            </a:extLst>
          </p:cNvPr>
          <p:cNvSpPr txBox="1"/>
          <p:nvPr/>
        </p:nvSpPr>
        <p:spPr>
          <a:xfrm>
            <a:off x="812800" y="3937620"/>
            <a:ext cx="3441700" cy="1172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4072CE"/>
              </a:buClr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bg1"/>
                </a:solidFill>
              </a:rPr>
              <a:t>Task Erstellen</a:t>
            </a:r>
          </a:p>
          <a:p>
            <a:pPr marL="285750" indent="-285750">
              <a:buClr>
                <a:srgbClr val="4072CE"/>
              </a:buClr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bg1"/>
                </a:solidFill>
              </a:rPr>
              <a:t>Task Details ansehen</a:t>
            </a:r>
          </a:p>
          <a:p>
            <a:pPr marL="285750" indent="-285750">
              <a:buClr>
                <a:srgbClr val="4072CE"/>
              </a:buClr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bg1"/>
                </a:solidFill>
              </a:rPr>
              <a:t>Task Status sortieren</a:t>
            </a:r>
          </a:p>
          <a:p>
            <a:pPr marL="285750" indent="-285750">
              <a:buClr>
                <a:srgbClr val="4072CE"/>
              </a:buClr>
              <a:buSzPct val="100000"/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bg1"/>
                </a:solidFill>
              </a:rPr>
              <a:t>Arbeiter sortieren</a:t>
            </a:r>
          </a:p>
          <a:p>
            <a:pPr marL="285750" indent="-285750">
              <a:buClr>
                <a:srgbClr val="4072CE"/>
              </a:buClr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bg1"/>
                </a:solidFill>
              </a:rPr>
              <a:t>Zusätzliche Arbeiter anfragen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F311834E-7C7F-93D5-42E0-A4F8ECA3905B}"/>
              </a:ext>
            </a:extLst>
          </p:cNvPr>
          <p:cNvSpPr txBox="1"/>
          <p:nvPr/>
        </p:nvSpPr>
        <p:spPr>
          <a:xfrm>
            <a:off x="5006837" y="3858701"/>
            <a:ext cx="3441700" cy="1388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4072CE"/>
              </a:buClr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bg1"/>
                </a:solidFill>
              </a:rPr>
              <a:t>Automatische Kalendereinträge</a:t>
            </a:r>
          </a:p>
          <a:p>
            <a:pPr marL="285750" indent="-285750">
              <a:buClr>
                <a:srgbClr val="4072CE"/>
              </a:buClr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bg1"/>
                </a:solidFill>
              </a:rPr>
              <a:t>Manager sehen alle Einträge</a:t>
            </a:r>
          </a:p>
          <a:p>
            <a:pPr marL="285750" indent="-285750">
              <a:buClr>
                <a:srgbClr val="4072CE"/>
              </a:buClr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bg1"/>
                </a:solidFill>
              </a:rPr>
              <a:t>Arbeiter sieht seine eigenen Tasks </a:t>
            </a:r>
          </a:p>
          <a:p>
            <a:pPr marL="285750" indent="-285750">
              <a:buClr>
                <a:srgbClr val="4072CE"/>
              </a:buClr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bg1"/>
                </a:solidFill>
              </a:rPr>
              <a:t>Live-Status der Arbeiter</a:t>
            </a:r>
          </a:p>
          <a:p>
            <a:pPr marL="285750" indent="-285750">
              <a:buClr>
                <a:srgbClr val="4072CE"/>
              </a:buClr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bg1"/>
                </a:solidFill>
              </a:rPr>
              <a:t>Arbeiter sehen Teammitglieder mit derselben Task </a:t>
            </a:r>
          </a:p>
        </p:txBody>
      </p:sp>
    </p:spTree>
    <p:extLst>
      <p:ext uri="{BB962C8B-B14F-4D97-AF65-F5344CB8AC3E}">
        <p14:creationId xmlns:p14="http://schemas.microsoft.com/office/powerpoint/2010/main" val="1784850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A093D4E5-2560-AB5C-E997-5F998FB81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92006-D325-4DB0-B1D2-7D1183539058}" type="slidenum">
              <a:rPr lang="de-DE" smtClean="0"/>
              <a:t>7</a:t>
            </a:fld>
            <a:endParaRPr lang="de-DE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6CA7D432-3F7D-3E89-176D-CF5A8BEA6C5B}"/>
              </a:ext>
            </a:extLst>
          </p:cNvPr>
          <p:cNvSpPr txBox="1"/>
          <p:nvPr/>
        </p:nvSpPr>
        <p:spPr>
          <a:xfrm>
            <a:off x="609600" y="431800"/>
            <a:ext cx="6400800" cy="52322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de-DE" sz="2800" b="1">
                <a:solidFill>
                  <a:srgbClr val="FFFFFF"/>
                </a:solidFill>
                <a:latin typeface="Poppins" panose="00000500000000000000" pitchFamily="2" charset="0"/>
              </a:rPr>
              <a:t>Feature: Task Hub</a:t>
            </a:r>
          </a:p>
        </p:txBody>
      </p: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733F37FE-4009-93BD-DF38-179528E25C93}"/>
              </a:ext>
            </a:extLst>
          </p:cNvPr>
          <p:cNvSpPr/>
          <p:nvPr/>
        </p:nvSpPr>
        <p:spPr>
          <a:xfrm>
            <a:off x="609600" y="1143000"/>
            <a:ext cx="5303520" cy="368300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2222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 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94C7B9C7-443E-6CD3-EBBD-88087398D913}"/>
              </a:ext>
            </a:extLst>
          </p:cNvPr>
          <p:cNvSpPr txBox="1"/>
          <p:nvPr/>
        </p:nvSpPr>
        <p:spPr>
          <a:xfrm>
            <a:off x="609600" y="2857500"/>
            <a:ext cx="5303520" cy="30841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de-DE" sz="1400">
                <a:solidFill>
                  <a:srgbClr val="999999"/>
                </a:solidFill>
                <a:latin typeface="Source Sans 3"/>
              </a:rPr>
              <a:t>Screenshot Platzhalter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CC30F658-A885-0F18-DAB6-F8004FF1D0A9}"/>
              </a:ext>
            </a:extLst>
          </p:cNvPr>
          <p:cNvSpPr txBox="1"/>
          <p:nvPr/>
        </p:nvSpPr>
        <p:spPr>
          <a:xfrm>
            <a:off x="812800" y="1295400"/>
            <a:ext cx="4897120" cy="276999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de-DE" sz="1200">
                <a:solidFill>
                  <a:srgbClr val="999999"/>
                </a:solidFill>
                <a:latin typeface="Source Sans 3"/>
              </a:rPr>
              <a:t>Task Hub / Taskliste</a:t>
            </a:r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5B080012-5DC0-9C21-71FF-8FC3C7F5332C}"/>
              </a:ext>
            </a:extLst>
          </p:cNvPr>
          <p:cNvSpPr/>
          <p:nvPr/>
        </p:nvSpPr>
        <p:spPr>
          <a:xfrm>
            <a:off x="6141720" y="1143000"/>
            <a:ext cx="2392680" cy="1166574"/>
          </a:xfrm>
          <a:prstGeom prst="roundRect">
            <a:avLst/>
          </a:prstGeom>
          <a:solidFill>
            <a:srgbClr val="111111"/>
          </a:solidFill>
          <a:ln w="12700">
            <a:solidFill>
              <a:srgbClr val="2222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A73AD7A2-501B-6CC2-5A3D-B22A0CEA03CC}"/>
              </a:ext>
            </a:extLst>
          </p:cNvPr>
          <p:cNvSpPr txBox="1"/>
          <p:nvPr/>
        </p:nvSpPr>
        <p:spPr>
          <a:xfrm>
            <a:off x="6294120" y="1244600"/>
            <a:ext cx="2087880" cy="276999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de-DE" sz="1200" b="1" dirty="0">
                <a:solidFill>
                  <a:srgbClr val="4072CE"/>
                </a:solidFill>
                <a:latin typeface="Source Sans 3"/>
              </a:rPr>
              <a:t>Highlights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9CE07CC0-0850-2501-EF58-AED862BE09B2}"/>
              </a:ext>
            </a:extLst>
          </p:cNvPr>
          <p:cNvSpPr txBox="1"/>
          <p:nvPr/>
        </p:nvSpPr>
        <p:spPr>
          <a:xfrm>
            <a:off x="6294120" y="1447800"/>
            <a:ext cx="2087880" cy="861774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de-DE" sz="1000" dirty="0">
                <a:solidFill>
                  <a:srgbClr val="FFFFFF"/>
                </a:solidFill>
                <a:latin typeface="Source Sans 3"/>
              </a:rPr>
              <a:t>- KPI-Übersicht: Offen, Laufend, Fertig
- Status- und Mitarbeiterfilter
- Task-Details mit Bedarf &amp; Zuweisungen</a:t>
            </a:r>
          </a:p>
        </p:txBody>
      </p:sp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4AEA9247-90D2-91AA-41CB-F27F901F3030}"/>
              </a:ext>
            </a:extLst>
          </p:cNvPr>
          <p:cNvSpPr/>
          <p:nvPr/>
        </p:nvSpPr>
        <p:spPr>
          <a:xfrm>
            <a:off x="6141720" y="2421467"/>
            <a:ext cx="2392680" cy="1126066"/>
          </a:xfrm>
          <a:prstGeom prst="roundRect">
            <a:avLst/>
          </a:prstGeom>
          <a:solidFill>
            <a:srgbClr val="111111"/>
          </a:solidFill>
          <a:ln w="12700">
            <a:solidFill>
              <a:srgbClr val="2222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7B8F01C1-6F20-C8AC-B7B4-3D91E1EE5103}"/>
              </a:ext>
            </a:extLst>
          </p:cNvPr>
          <p:cNvSpPr txBox="1"/>
          <p:nvPr/>
        </p:nvSpPr>
        <p:spPr>
          <a:xfrm>
            <a:off x="6294120" y="2523067"/>
            <a:ext cx="2087880" cy="276999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de-DE" sz="1200" b="1">
                <a:solidFill>
                  <a:srgbClr val="4C8BFF"/>
                </a:solidFill>
                <a:latin typeface="Source Sans 3"/>
              </a:rPr>
              <a:t>Flow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83B056CC-5DF2-5174-A776-EEFC03141E19}"/>
              </a:ext>
            </a:extLst>
          </p:cNvPr>
          <p:cNvSpPr txBox="1"/>
          <p:nvPr/>
        </p:nvSpPr>
        <p:spPr>
          <a:xfrm>
            <a:off x="6294120" y="2726267"/>
            <a:ext cx="2087880" cy="55399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Source Sans 3"/>
              </a:rPr>
              <a:t>- Manager erstellt Task
- Backend speichert &amp; weist zu
- Task erscheint in Liste &amp; Kalender</a:t>
            </a:r>
          </a:p>
        </p:txBody>
      </p:sp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15C237CC-ABF8-BE66-7DEA-7813BE50F81A}"/>
              </a:ext>
            </a:extLst>
          </p:cNvPr>
          <p:cNvSpPr/>
          <p:nvPr/>
        </p:nvSpPr>
        <p:spPr>
          <a:xfrm>
            <a:off x="6141720" y="3699933"/>
            <a:ext cx="2392680" cy="1126067"/>
          </a:xfrm>
          <a:prstGeom prst="roundRect">
            <a:avLst/>
          </a:prstGeom>
          <a:solidFill>
            <a:srgbClr val="111111"/>
          </a:solidFill>
          <a:ln w="12700">
            <a:solidFill>
              <a:srgbClr val="2222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E6E05EAC-1A0D-B1EE-283E-7CB118471DD4}"/>
              </a:ext>
            </a:extLst>
          </p:cNvPr>
          <p:cNvSpPr txBox="1"/>
          <p:nvPr/>
        </p:nvSpPr>
        <p:spPr>
          <a:xfrm>
            <a:off x="6294120" y="3801533"/>
            <a:ext cx="2087880" cy="276999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de-DE" sz="1200" b="1">
                <a:solidFill>
                  <a:srgbClr val="4C8BFF"/>
                </a:solidFill>
                <a:latin typeface="Source Sans 3"/>
              </a:rPr>
              <a:t>Technologien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5B7DDFE1-817F-6A27-8906-96545656969B}"/>
              </a:ext>
            </a:extLst>
          </p:cNvPr>
          <p:cNvSpPr txBox="1"/>
          <p:nvPr/>
        </p:nvSpPr>
        <p:spPr>
          <a:xfrm>
            <a:off x="6294120" y="4004733"/>
            <a:ext cx="2087880" cy="55399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000">
                <a:solidFill>
                  <a:srgbClr val="FFFFFF"/>
                </a:solidFill>
                <a:latin typeface="Source Sans 3"/>
              </a:rPr>
              <a:t>- React Native + Expo UI
- Redux Toolkit (State)
- REST API + DateTimePicker</a:t>
            </a:r>
            <a:endParaRPr lang="de-DE" sz="1000">
              <a:solidFill>
                <a:srgbClr val="FFFFFF"/>
              </a:solidFill>
              <a:latin typeface="Source Sans 3"/>
            </a:endParaRPr>
          </a:p>
        </p:txBody>
      </p:sp>
    </p:spTree>
    <p:extLst>
      <p:ext uri="{BB962C8B-B14F-4D97-AF65-F5344CB8AC3E}">
        <p14:creationId xmlns:p14="http://schemas.microsoft.com/office/powerpoint/2010/main" val="32136002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CF186B4D-4A22-DAC3-A66D-0BAF2AB5E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92006-D325-4DB0-B1D2-7D1183539058}" type="slidenum">
              <a:rPr lang="de-DE" smtClean="0"/>
              <a:t>8</a:t>
            </a:fld>
            <a:endParaRPr lang="de-DE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BFCA1DD0-FAEF-9F2E-F147-0F4F1325661D}"/>
              </a:ext>
            </a:extLst>
          </p:cNvPr>
          <p:cNvSpPr txBox="1"/>
          <p:nvPr/>
        </p:nvSpPr>
        <p:spPr>
          <a:xfrm>
            <a:off x="609600" y="431800"/>
            <a:ext cx="6400800" cy="52322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de-DE" sz="2800" b="1">
                <a:solidFill>
                  <a:srgbClr val="FFFFFF"/>
                </a:solidFill>
                <a:latin typeface="Poppins" panose="00000500000000000000" pitchFamily="2" charset="0"/>
              </a:rPr>
              <a:t>Feature: Anfragen und Chat</a:t>
            </a:r>
          </a:p>
        </p:txBody>
      </p: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13F402BF-5A56-5E75-1A4B-FF42D0488364}"/>
              </a:ext>
            </a:extLst>
          </p:cNvPr>
          <p:cNvSpPr/>
          <p:nvPr/>
        </p:nvSpPr>
        <p:spPr>
          <a:xfrm>
            <a:off x="609600" y="1143000"/>
            <a:ext cx="5303520" cy="368300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2222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C52F2DC8-75C1-9724-CCAE-76C1284359EB}"/>
              </a:ext>
            </a:extLst>
          </p:cNvPr>
          <p:cNvSpPr txBox="1"/>
          <p:nvPr/>
        </p:nvSpPr>
        <p:spPr>
          <a:xfrm>
            <a:off x="609600" y="2857500"/>
            <a:ext cx="5303520" cy="30841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de-DE" sz="1400">
                <a:solidFill>
                  <a:srgbClr val="999999"/>
                </a:solidFill>
                <a:latin typeface="Source Sans 3"/>
              </a:rPr>
              <a:t>Screenshot Platzhalter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DFA0EC6E-5883-48D9-6A94-584D5D53937B}"/>
              </a:ext>
            </a:extLst>
          </p:cNvPr>
          <p:cNvSpPr txBox="1"/>
          <p:nvPr/>
        </p:nvSpPr>
        <p:spPr>
          <a:xfrm>
            <a:off x="812800" y="1295400"/>
            <a:ext cx="4897120" cy="276999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de-DE" sz="1200">
                <a:solidFill>
                  <a:srgbClr val="999999"/>
                </a:solidFill>
                <a:latin typeface="Source Sans 3"/>
              </a:rPr>
              <a:t>Inbox / Requests / Chats</a:t>
            </a:r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0CBA3A96-7DA7-62E2-95DC-5620A3F5067A}"/>
              </a:ext>
            </a:extLst>
          </p:cNvPr>
          <p:cNvSpPr/>
          <p:nvPr/>
        </p:nvSpPr>
        <p:spPr>
          <a:xfrm>
            <a:off x="6141720" y="1143000"/>
            <a:ext cx="2392680" cy="1126067"/>
          </a:xfrm>
          <a:prstGeom prst="roundRect">
            <a:avLst/>
          </a:prstGeom>
          <a:solidFill>
            <a:srgbClr val="111111"/>
          </a:solidFill>
          <a:ln w="12700">
            <a:solidFill>
              <a:srgbClr val="2222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7A6A7A07-624E-4B70-0A80-1A2C5509BF87}"/>
              </a:ext>
            </a:extLst>
          </p:cNvPr>
          <p:cNvSpPr txBox="1"/>
          <p:nvPr/>
        </p:nvSpPr>
        <p:spPr>
          <a:xfrm>
            <a:off x="6294120" y="1244600"/>
            <a:ext cx="2087880" cy="276999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de-DE" sz="1200" b="1">
                <a:solidFill>
                  <a:srgbClr val="4C8BFF"/>
                </a:solidFill>
                <a:latin typeface="Source Sans 3"/>
              </a:rPr>
              <a:t>Highlights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16F6F2A8-93B5-E478-014D-AE0577C6B0E2}"/>
              </a:ext>
            </a:extLst>
          </p:cNvPr>
          <p:cNvSpPr txBox="1"/>
          <p:nvPr/>
        </p:nvSpPr>
        <p:spPr>
          <a:xfrm>
            <a:off x="6294120" y="1447800"/>
            <a:ext cx="2087880" cy="55399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Source Sans 3"/>
              </a:rPr>
              <a:t>- Live-Inbox mit Requests und Chats
- Anfrage mit optionaler Nachricht
- Statusanzeige für WebSocket</a:t>
            </a:r>
          </a:p>
        </p:txBody>
      </p:sp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08785F17-E674-0D70-3776-35CD3A388D51}"/>
              </a:ext>
            </a:extLst>
          </p:cNvPr>
          <p:cNvSpPr/>
          <p:nvPr/>
        </p:nvSpPr>
        <p:spPr>
          <a:xfrm>
            <a:off x="6141720" y="2421467"/>
            <a:ext cx="2392680" cy="1126066"/>
          </a:xfrm>
          <a:prstGeom prst="roundRect">
            <a:avLst/>
          </a:prstGeom>
          <a:solidFill>
            <a:srgbClr val="111111"/>
          </a:solidFill>
          <a:ln w="12700">
            <a:solidFill>
              <a:srgbClr val="2222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B4E77913-5E8D-6476-E952-5375BB8217FF}"/>
              </a:ext>
            </a:extLst>
          </p:cNvPr>
          <p:cNvSpPr txBox="1"/>
          <p:nvPr/>
        </p:nvSpPr>
        <p:spPr>
          <a:xfrm>
            <a:off x="6294120" y="2523067"/>
            <a:ext cx="2087880" cy="276999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de-DE" sz="1200" b="1">
                <a:solidFill>
                  <a:srgbClr val="4C8BFF"/>
                </a:solidFill>
                <a:latin typeface="Source Sans 3"/>
              </a:rPr>
              <a:t>Flow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4FDEC55F-0EBE-7DC7-C6B0-E62F44BE1A0A}"/>
              </a:ext>
            </a:extLst>
          </p:cNvPr>
          <p:cNvSpPr txBox="1"/>
          <p:nvPr/>
        </p:nvSpPr>
        <p:spPr>
          <a:xfrm>
            <a:off x="6294120" y="2726267"/>
            <a:ext cx="2087880" cy="55399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Source Sans 3"/>
              </a:rPr>
              <a:t>- Manager sendet Anfrage
- Mitarbeiter nimmt an/ab
- Status &amp; Chat live per WebSocket</a:t>
            </a:r>
          </a:p>
        </p:txBody>
      </p:sp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70C95B09-3312-E4C9-D868-8118CAAEBED7}"/>
              </a:ext>
            </a:extLst>
          </p:cNvPr>
          <p:cNvSpPr/>
          <p:nvPr/>
        </p:nvSpPr>
        <p:spPr>
          <a:xfrm>
            <a:off x="6141720" y="3699933"/>
            <a:ext cx="2392680" cy="1126067"/>
          </a:xfrm>
          <a:prstGeom prst="roundRect">
            <a:avLst/>
          </a:prstGeom>
          <a:solidFill>
            <a:srgbClr val="111111"/>
          </a:solidFill>
          <a:ln w="12700">
            <a:solidFill>
              <a:srgbClr val="2222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A8C2502E-CB90-22D2-372B-E7141014FD93}"/>
              </a:ext>
            </a:extLst>
          </p:cNvPr>
          <p:cNvSpPr txBox="1"/>
          <p:nvPr/>
        </p:nvSpPr>
        <p:spPr>
          <a:xfrm>
            <a:off x="6294120" y="3801533"/>
            <a:ext cx="2087880" cy="276999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de-DE" sz="1200" b="1">
                <a:solidFill>
                  <a:srgbClr val="4C8BFF"/>
                </a:solidFill>
                <a:latin typeface="Source Sans 3"/>
              </a:rPr>
              <a:t>Technologien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C5BDE6A3-BF04-B40B-7379-03A975D9144F}"/>
              </a:ext>
            </a:extLst>
          </p:cNvPr>
          <p:cNvSpPr txBox="1"/>
          <p:nvPr/>
        </p:nvSpPr>
        <p:spPr>
          <a:xfrm>
            <a:off x="6294120" y="4004733"/>
            <a:ext cx="2087880" cy="707886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Source Sans 3"/>
              </a:rPr>
              <a:t>- WebSocket (STOMP) für Live-Updates
- REST API für Requests und Chats
- Tab-Segmente + Modals</a:t>
            </a:r>
          </a:p>
        </p:txBody>
      </p:sp>
    </p:spTree>
    <p:extLst>
      <p:ext uri="{BB962C8B-B14F-4D97-AF65-F5344CB8AC3E}">
        <p14:creationId xmlns:p14="http://schemas.microsoft.com/office/powerpoint/2010/main" val="5996961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04F35DC6-7AAE-08ED-1655-BA7AF6983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92006-D325-4DB0-B1D2-7D1183539058}" type="slidenum">
              <a:rPr lang="de-DE" smtClean="0"/>
              <a:t>9</a:t>
            </a:fld>
            <a:endParaRPr lang="de-DE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4FEF8943-FFAC-EE16-8015-0FA782041CF7}"/>
              </a:ext>
            </a:extLst>
          </p:cNvPr>
          <p:cNvSpPr txBox="1"/>
          <p:nvPr/>
        </p:nvSpPr>
        <p:spPr>
          <a:xfrm>
            <a:off x="609600" y="431800"/>
            <a:ext cx="7924800" cy="954107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de-DE" sz="2800" b="1" dirty="0">
                <a:solidFill>
                  <a:srgbClr val="FFFFFF"/>
                </a:solidFill>
                <a:latin typeface="Poppins" panose="00000500000000000000" pitchFamily="2" charset="0"/>
              </a:rPr>
              <a:t>Feature: Kalender und Einsatzplanung</a:t>
            </a:r>
          </a:p>
        </p:txBody>
      </p: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3194489B-868D-EFD1-CB94-8F6A2A11D651}"/>
              </a:ext>
            </a:extLst>
          </p:cNvPr>
          <p:cNvSpPr/>
          <p:nvPr/>
        </p:nvSpPr>
        <p:spPr>
          <a:xfrm>
            <a:off x="609600" y="1143000"/>
            <a:ext cx="5303520" cy="368300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2222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BA68550A-55D4-F6C5-414A-6A78B78A203D}"/>
              </a:ext>
            </a:extLst>
          </p:cNvPr>
          <p:cNvSpPr txBox="1"/>
          <p:nvPr/>
        </p:nvSpPr>
        <p:spPr>
          <a:xfrm>
            <a:off x="609600" y="2857500"/>
            <a:ext cx="5303520" cy="30841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de-DE" sz="1400">
                <a:solidFill>
                  <a:srgbClr val="999999"/>
                </a:solidFill>
                <a:latin typeface="Source Sans 3"/>
              </a:rPr>
              <a:t>Screenshot Platzhalter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8F30A60A-AC02-2C4C-3FE0-49D44DF7BC77}"/>
              </a:ext>
            </a:extLst>
          </p:cNvPr>
          <p:cNvSpPr txBox="1"/>
          <p:nvPr/>
        </p:nvSpPr>
        <p:spPr>
          <a:xfrm>
            <a:off x="812800" y="1295400"/>
            <a:ext cx="4897120" cy="276999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de-DE" sz="1200">
                <a:solidFill>
                  <a:srgbClr val="999999"/>
                </a:solidFill>
                <a:latin typeface="Source Sans 3"/>
              </a:rPr>
              <a:t>Kalender</a:t>
            </a:r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FB4E6956-E0B4-9DED-3890-621AAD2C8C97}"/>
              </a:ext>
            </a:extLst>
          </p:cNvPr>
          <p:cNvSpPr/>
          <p:nvPr/>
        </p:nvSpPr>
        <p:spPr>
          <a:xfrm>
            <a:off x="6141720" y="1143000"/>
            <a:ext cx="2392680" cy="1126067"/>
          </a:xfrm>
          <a:prstGeom prst="roundRect">
            <a:avLst/>
          </a:prstGeom>
          <a:solidFill>
            <a:srgbClr val="111111"/>
          </a:solidFill>
          <a:ln w="12700">
            <a:solidFill>
              <a:srgbClr val="2222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8C546F0B-1F26-8576-9CC2-9EDC77937D10}"/>
              </a:ext>
            </a:extLst>
          </p:cNvPr>
          <p:cNvSpPr txBox="1"/>
          <p:nvPr/>
        </p:nvSpPr>
        <p:spPr>
          <a:xfrm>
            <a:off x="6294120" y="1244600"/>
            <a:ext cx="2087880" cy="276999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de-DE" sz="1200" b="1">
                <a:solidFill>
                  <a:srgbClr val="4C8BFF"/>
                </a:solidFill>
                <a:latin typeface="Source Sans 3"/>
              </a:rPr>
              <a:t>Highlights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9E2171CD-DECC-9995-E2F3-DD8959C3E318}"/>
              </a:ext>
            </a:extLst>
          </p:cNvPr>
          <p:cNvSpPr txBox="1"/>
          <p:nvPr/>
        </p:nvSpPr>
        <p:spPr>
          <a:xfrm>
            <a:off x="6294120" y="1447800"/>
            <a:ext cx="2087880" cy="55399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Source Sans 3"/>
              </a:rPr>
              <a:t>- Monatsansicht + Tagesdetails
- Statusfarben für Aufgaben
- Manager- und Mitarbeiteransicht</a:t>
            </a:r>
          </a:p>
        </p:txBody>
      </p:sp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F8A9F362-9F34-EEAF-EC63-32C4405FFCB5}"/>
              </a:ext>
            </a:extLst>
          </p:cNvPr>
          <p:cNvSpPr/>
          <p:nvPr/>
        </p:nvSpPr>
        <p:spPr>
          <a:xfrm>
            <a:off x="6141720" y="2421467"/>
            <a:ext cx="2392680" cy="1126066"/>
          </a:xfrm>
          <a:prstGeom prst="roundRect">
            <a:avLst/>
          </a:prstGeom>
          <a:solidFill>
            <a:srgbClr val="111111"/>
          </a:solidFill>
          <a:ln w="12700">
            <a:solidFill>
              <a:srgbClr val="2222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E450B4B1-4417-3D47-364A-950C778938D6}"/>
              </a:ext>
            </a:extLst>
          </p:cNvPr>
          <p:cNvSpPr txBox="1"/>
          <p:nvPr/>
        </p:nvSpPr>
        <p:spPr>
          <a:xfrm>
            <a:off x="6294120" y="2523067"/>
            <a:ext cx="2087880" cy="276999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de-DE" sz="1200" b="1">
                <a:solidFill>
                  <a:srgbClr val="4C8BFF"/>
                </a:solidFill>
                <a:latin typeface="Source Sans 3"/>
              </a:rPr>
              <a:t>Flow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C6AE37E4-23C7-404C-572E-BED400ADCD89}"/>
              </a:ext>
            </a:extLst>
          </p:cNvPr>
          <p:cNvSpPr txBox="1"/>
          <p:nvPr/>
        </p:nvSpPr>
        <p:spPr>
          <a:xfrm>
            <a:off x="6294120" y="2726267"/>
            <a:ext cx="2087880" cy="55399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Source Sans 3"/>
              </a:rPr>
              <a:t>- Task + Zuweisung erzeugt Event
- Kalender lädt Events
- Tagesansicht zeigt Details</a:t>
            </a:r>
          </a:p>
        </p:txBody>
      </p:sp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8BCB8E28-9830-0641-CF68-CB8A02DF794C}"/>
              </a:ext>
            </a:extLst>
          </p:cNvPr>
          <p:cNvSpPr/>
          <p:nvPr/>
        </p:nvSpPr>
        <p:spPr>
          <a:xfrm>
            <a:off x="6141720" y="3699933"/>
            <a:ext cx="2392680" cy="1126067"/>
          </a:xfrm>
          <a:prstGeom prst="roundRect">
            <a:avLst/>
          </a:prstGeom>
          <a:solidFill>
            <a:srgbClr val="111111"/>
          </a:solidFill>
          <a:ln w="12700">
            <a:solidFill>
              <a:srgbClr val="2222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64921963-99B3-14C0-7EA0-DED3D7EB214B}"/>
              </a:ext>
            </a:extLst>
          </p:cNvPr>
          <p:cNvSpPr txBox="1"/>
          <p:nvPr/>
        </p:nvSpPr>
        <p:spPr>
          <a:xfrm>
            <a:off x="6294120" y="3801533"/>
            <a:ext cx="2087880" cy="276999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de-DE" sz="1200" b="1">
                <a:solidFill>
                  <a:srgbClr val="4C8BFF"/>
                </a:solidFill>
                <a:latin typeface="Source Sans 3"/>
              </a:rPr>
              <a:t>Technologien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92FA5D5E-5543-C49E-431E-478E735D1E7A}"/>
              </a:ext>
            </a:extLst>
          </p:cNvPr>
          <p:cNvSpPr txBox="1"/>
          <p:nvPr/>
        </p:nvSpPr>
        <p:spPr>
          <a:xfrm>
            <a:off x="6294120" y="4004733"/>
            <a:ext cx="2087880" cy="55399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Source Sans 3"/>
              </a:rPr>
              <a:t>- REST API für Kalender-Events
- moment.js für Datum/Status
- Role-based Views</a:t>
            </a:r>
          </a:p>
        </p:txBody>
      </p:sp>
    </p:spTree>
    <p:extLst>
      <p:ext uri="{BB962C8B-B14F-4D97-AF65-F5344CB8AC3E}">
        <p14:creationId xmlns:p14="http://schemas.microsoft.com/office/powerpoint/2010/main" val="14383579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42183FED-9CA7-E158-EAE7-82C462605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92006-D325-4DB0-B1D2-7D1183539058}" type="slidenum">
              <a:rPr lang="de-DE" smtClean="0"/>
              <a:t>10</a:t>
            </a:fld>
            <a:endParaRPr lang="de-DE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D110C335-C2A6-EC37-B2E1-F4CD89A34479}"/>
              </a:ext>
            </a:extLst>
          </p:cNvPr>
          <p:cNvSpPr txBox="1"/>
          <p:nvPr/>
        </p:nvSpPr>
        <p:spPr>
          <a:xfrm>
            <a:off x="609600" y="431800"/>
            <a:ext cx="6400800" cy="52322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de-DE" sz="2800" b="1">
                <a:solidFill>
                  <a:srgbClr val="FFFFFF"/>
                </a:solidFill>
                <a:latin typeface="Poppins" panose="00000500000000000000" pitchFamily="2" charset="0"/>
              </a:rPr>
              <a:t>Feature: Dashboard und Rollen</a:t>
            </a:r>
          </a:p>
        </p:txBody>
      </p: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CDE83FFB-9FC3-BE88-12AC-4F500D0DC009}"/>
              </a:ext>
            </a:extLst>
          </p:cNvPr>
          <p:cNvSpPr/>
          <p:nvPr/>
        </p:nvSpPr>
        <p:spPr>
          <a:xfrm>
            <a:off x="609600" y="1143000"/>
            <a:ext cx="5303520" cy="368300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2222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1C1DFEE3-3C07-7F06-DF52-9FC77523051A}"/>
              </a:ext>
            </a:extLst>
          </p:cNvPr>
          <p:cNvSpPr txBox="1"/>
          <p:nvPr/>
        </p:nvSpPr>
        <p:spPr>
          <a:xfrm>
            <a:off x="609600" y="2857500"/>
            <a:ext cx="5303520" cy="30841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de-DE" sz="1400">
                <a:solidFill>
                  <a:srgbClr val="999999"/>
                </a:solidFill>
                <a:latin typeface="Source Sans 3"/>
              </a:rPr>
              <a:t>Screenshot Platzhalter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313A6C31-A0FA-4EB5-DC50-934A2E5B789C}"/>
              </a:ext>
            </a:extLst>
          </p:cNvPr>
          <p:cNvSpPr txBox="1"/>
          <p:nvPr/>
        </p:nvSpPr>
        <p:spPr>
          <a:xfrm>
            <a:off x="812800" y="1295400"/>
            <a:ext cx="4897120" cy="276999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de-DE" sz="1200">
                <a:solidFill>
                  <a:srgbClr val="999999"/>
                </a:solidFill>
                <a:latin typeface="Source Sans 3"/>
              </a:rPr>
              <a:t>Dashboard</a:t>
            </a:r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C45153E6-76B1-4182-55A6-FDA3024C86C1}"/>
              </a:ext>
            </a:extLst>
          </p:cNvPr>
          <p:cNvSpPr/>
          <p:nvPr/>
        </p:nvSpPr>
        <p:spPr>
          <a:xfrm>
            <a:off x="6141720" y="1143000"/>
            <a:ext cx="2392680" cy="1126067"/>
          </a:xfrm>
          <a:prstGeom prst="roundRect">
            <a:avLst/>
          </a:prstGeom>
          <a:solidFill>
            <a:srgbClr val="111111"/>
          </a:solidFill>
          <a:ln w="12700">
            <a:solidFill>
              <a:srgbClr val="2222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9376E938-2EDD-8071-2BDA-376F672621B4}"/>
              </a:ext>
            </a:extLst>
          </p:cNvPr>
          <p:cNvSpPr txBox="1"/>
          <p:nvPr/>
        </p:nvSpPr>
        <p:spPr>
          <a:xfrm>
            <a:off x="6294120" y="1244600"/>
            <a:ext cx="2087880" cy="276999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de-DE" sz="1200" b="1">
                <a:solidFill>
                  <a:srgbClr val="4C8BFF"/>
                </a:solidFill>
                <a:latin typeface="Source Sans 3"/>
              </a:rPr>
              <a:t>Highlights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18E1F22C-2A22-B9A8-CB5B-5E4F19562179}"/>
              </a:ext>
            </a:extLst>
          </p:cNvPr>
          <p:cNvSpPr txBox="1"/>
          <p:nvPr/>
        </p:nvSpPr>
        <p:spPr>
          <a:xfrm>
            <a:off x="6294120" y="1447800"/>
            <a:ext cx="2087880" cy="55399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de-DE" sz="1000" dirty="0">
                <a:solidFill>
                  <a:srgbClr val="FFFFFF"/>
                </a:solidFill>
                <a:latin typeface="Source Sans 3"/>
              </a:rPr>
              <a:t>- Manager-</a:t>
            </a:r>
            <a:r>
              <a:rPr lang="de-DE" sz="1000" dirty="0" err="1">
                <a:solidFill>
                  <a:srgbClr val="FFFFFF"/>
                </a:solidFill>
                <a:latin typeface="Source Sans 3"/>
              </a:rPr>
              <a:t>Overview</a:t>
            </a:r>
            <a:r>
              <a:rPr lang="de-DE" sz="1000" dirty="0">
                <a:solidFill>
                  <a:srgbClr val="FFFFFF"/>
                </a:solidFill>
                <a:latin typeface="Source Sans 3"/>
              </a:rPr>
              <a:t>: Teamstatus
- Mitarbeiter: Status &amp; Stundensatz
- Rollenbasierte Inhalte</a:t>
            </a:r>
          </a:p>
        </p:txBody>
      </p:sp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AF9B4DC4-494E-50D3-7BD9-78BD0A2A19AB}"/>
              </a:ext>
            </a:extLst>
          </p:cNvPr>
          <p:cNvSpPr/>
          <p:nvPr/>
        </p:nvSpPr>
        <p:spPr>
          <a:xfrm>
            <a:off x="6141720" y="2421467"/>
            <a:ext cx="2392680" cy="1126066"/>
          </a:xfrm>
          <a:prstGeom prst="roundRect">
            <a:avLst/>
          </a:prstGeom>
          <a:solidFill>
            <a:srgbClr val="111111"/>
          </a:solidFill>
          <a:ln w="12700">
            <a:solidFill>
              <a:srgbClr val="2222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8E2E0642-7910-66E2-23C1-4FD08D410170}"/>
              </a:ext>
            </a:extLst>
          </p:cNvPr>
          <p:cNvSpPr txBox="1"/>
          <p:nvPr/>
        </p:nvSpPr>
        <p:spPr>
          <a:xfrm>
            <a:off x="6294120" y="2523067"/>
            <a:ext cx="2087880" cy="276999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de-DE" sz="1200" b="1">
                <a:solidFill>
                  <a:srgbClr val="4C8BFF"/>
                </a:solidFill>
                <a:latin typeface="Source Sans 3"/>
              </a:rPr>
              <a:t>Flow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213CF514-F70E-D5F8-8B6C-B7EDEC8F1C0B}"/>
              </a:ext>
            </a:extLst>
          </p:cNvPr>
          <p:cNvSpPr txBox="1"/>
          <p:nvPr/>
        </p:nvSpPr>
        <p:spPr>
          <a:xfrm>
            <a:off x="6294120" y="2726267"/>
            <a:ext cx="2087880" cy="55399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de-DE" sz="1000" dirty="0">
                <a:solidFill>
                  <a:srgbClr val="FFFFFF"/>
                </a:solidFill>
                <a:latin typeface="Source Sans 3"/>
              </a:rPr>
              <a:t>- Login erkennt Rolle
- Daten werden geladen
- Ansicht zeigt passende Widgets</a:t>
            </a:r>
          </a:p>
        </p:txBody>
      </p:sp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E3478066-5C31-AF98-3DFB-6377DC65CC62}"/>
              </a:ext>
            </a:extLst>
          </p:cNvPr>
          <p:cNvSpPr/>
          <p:nvPr/>
        </p:nvSpPr>
        <p:spPr>
          <a:xfrm>
            <a:off x="6141720" y="3699933"/>
            <a:ext cx="2392680" cy="1126067"/>
          </a:xfrm>
          <a:prstGeom prst="roundRect">
            <a:avLst/>
          </a:prstGeom>
          <a:solidFill>
            <a:srgbClr val="111111"/>
          </a:solidFill>
          <a:ln w="12700">
            <a:solidFill>
              <a:srgbClr val="2222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A71EBD58-6D4A-B64F-1849-562C22DF6C1B}"/>
              </a:ext>
            </a:extLst>
          </p:cNvPr>
          <p:cNvSpPr txBox="1"/>
          <p:nvPr/>
        </p:nvSpPr>
        <p:spPr>
          <a:xfrm>
            <a:off x="6294120" y="3801533"/>
            <a:ext cx="2087880" cy="276999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de-DE" sz="1200" b="1">
                <a:solidFill>
                  <a:srgbClr val="4C8BFF"/>
                </a:solidFill>
                <a:latin typeface="Source Sans 3"/>
              </a:rPr>
              <a:t>Technologien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9BDA11FC-47B2-8FC7-6160-4217187B4872}"/>
              </a:ext>
            </a:extLst>
          </p:cNvPr>
          <p:cNvSpPr txBox="1"/>
          <p:nvPr/>
        </p:nvSpPr>
        <p:spPr>
          <a:xfrm>
            <a:off x="6294120" y="4004733"/>
            <a:ext cx="2087880" cy="55399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000">
                <a:solidFill>
                  <a:srgbClr val="FFFFFF"/>
                </a:solidFill>
                <a:latin typeface="Source Sans 3"/>
              </a:rPr>
              <a:t>- Redux + REST (User/Stats)
- React Native Widgets
- Theming (Dark Mode)</a:t>
            </a:r>
            <a:endParaRPr lang="de-DE" sz="1000">
              <a:solidFill>
                <a:srgbClr val="FFFFFF"/>
              </a:solidFill>
              <a:latin typeface="Source Sans 3"/>
            </a:endParaRPr>
          </a:p>
        </p:txBody>
      </p:sp>
    </p:spTree>
    <p:extLst>
      <p:ext uri="{BB962C8B-B14F-4D97-AF65-F5344CB8AC3E}">
        <p14:creationId xmlns:p14="http://schemas.microsoft.com/office/powerpoint/2010/main" val="18226259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A3E8E205-946C-C95F-9CEB-B162F3DC5823}"/>
              </a:ext>
            </a:extLst>
          </p:cNvPr>
          <p:cNvSpPr txBox="1"/>
          <p:nvPr/>
        </p:nvSpPr>
        <p:spPr>
          <a:xfrm>
            <a:off x="609600" y="508000"/>
            <a:ext cx="7315200" cy="615553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de-DE" sz="3400" b="1">
                <a:solidFill>
                  <a:srgbClr val="FFFFFF"/>
                </a:solidFill>
                <a:latin typeface="Poppins" panose="00000500000000000000" pitchFamily="2" charset="0"/>
              </a:rPr>
              <a:t>Demo und Herausforderungen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0BF290F2-15F4-91FA-4058-CDA76313BC65}"/>
              </a:ext>
            </a:extLst>
          </p:cNvPr>
          <p:cNvSpPr/>
          <p:nvPr/>
        </p:nvSpPr>
        <p:spPr>
          <a:xfrm>
            <a:off x="609600" y="1131094"/>
            <a:ext cx="5486400" cy="431800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9A30A68D-30CC-2D5A-4CB6-B3C0E2177F81}"/>
              </a:ext>
            </a:extLst>
          </p:cNvPr>
          <p:cNvSpPr txBox="1"/>
          <p:nvPr/>
        </p:nvSpPr>
        <p:spPr>
          <a:xfrm>
            <a:off x="577795" y="2710597"/>
            <a:ext cx="5486400" cy="338554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de-DE" sz="1600" dirty="0">
                <a:solidFill>
                  <a:srgbClr val="999999"/>
                </a:solidFill>
                <a:latin typeface="Source Sans 3"/>
              </a:rPr>
              <a:t>Screenshot Platzhalter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6831918C-EC27-321E-B0CC-C50A20C1E028}"/>
              </a:ext>
            </a:extLst>
          </p:cNvPr>
          <p:cNvSpPr txBox="1"/>
          <p:nvPr/>
        </p:nvSpPr>
        <p:spPr>
          <a:xfrm>
            <a:off x="6324600" y="1524000"/>
            <a:ext cx="2209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de-DE" sz="1800" b="1" dirty="0">
                <a:solidFill>
                  <a:srgbClr val="4C8BFF"/>
                </a:solidFill>
                <a:latin typeface="Source Sans 3"/>
              </a:rPr>
              <a:t>Demo Highlights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551C00CD-6BEF-CCD4-1CD0-1784938BEFA2}"/>
              </a:ext>
            </a:extLst>
          </p:cNvPr>
          <p:cNvSpPr txBox="1"/>
          <p:nvPr/>
        </p:nvSpPr>
        <p:spPr>
          <a:xfrm>
            <a:off x="6324600" y="1879600"/>
            <a:ext cx="2588812" cy="830997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285750" indent="-285750">
              <a:buFontTx/>
              <a:buChar char="-"/>
            </a:pPr>
            <a:r>
              <a:rPr lang="de-DE" sz="1600" dirty="0">
                <a:solidFill>
                  <a:srgbClr val="FFFFFF"/>
                </a:solidFill>
                <a:latin typeface="Source Sans 3"/>
              </a:rPr>
              <a:t>Task Übersicht</a:t>
            </a:r>
          </a:p>
          <a:p>
            <a:pPr marL="285750" indent="-285750">
              <a:buFontTx/>
              <a:buChar char="-"/>
            </a:pPr>
            <a:r>
              <a:rPr lang="de-DE" sz="1600" dirty="0">
                <a:solidFill>
                  <a:srgbClr val="FFFFFF"/>
                </a:solidFill>
                <a:latin typeface="Source Sans 3"/>
              </a:rPr>
              <a:t>Status Filter</a:t>
            </a:r>
          </a:p>
          <a:p>
            <a:pPr marL="285750" indent="-285750">
              <a:buFontTx/>
              <a:buChar char="-"/>
            </a:pPr>
            <a:r>
              <a:rPr lang="de-DE" sz="1600" dirty="0">
                <a:solidFill>
                  <a:srgbClr val="FFFFFF"/>
                </a:solidFill>
                <a:latin typeface="Source Sans 3"/>
              </a:rPr>
              <a:t>Zuweisung in Sekunden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E19DD4B6-78A3-7426-CE1F-B48E768C33C7}"/>
              </a:ext>
            </a:extLst>
          </p:cNvPr>
          <p:cNvSpPr txBox="1"/>
          <p:nvPr/>
        </p:nvSpPr>
        <p:spPr>
          <a:xfrm>
            <a:off x="6324600" y="3005266"/>
            <a:ext cx="2209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de-DE" sz="1800" b="1" dirty="0">
                <a:solidFill>
                  <a:srgbClr val="4C8BFF"/>
                </a:solidFill>
                <a:latin typeface="Source Sans 3"/>
              </a:rPr>
              <a:t>Herausforderungen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0CD41AD4-FBDC-A3A2-0D87-FC1F12E10B35}"/>
              </a:ext>
            </a:extLst>
          </p:cNvPr>
          <p:cNvSpPr txBox="1"/>
          <p:nvPr/>
        </p:nvSpPr>
        <p:spPr>
          <a:xfrm>
            <a:off x="6324600" y="3330545"/>
            <a:ext cx="2755790" cy="107721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285750" indent="-285750">
              <a:buFontTx/>
              <a:buChar char="-"/>
            </a:pPr>
            <a:r>
              <a:rPr lang="de-DE" sz="1600" dirty="0">
                <a:solidFill>
                  <a:srgbClr val="FFFFFF"/>
                </a:solidFill>
                <a:latin typeface="Source Sans 3"/>
              </a:rPr>
              <a:t>Rollen sauber abgrenzen</a:t>
            </a:r>
          </a:p>
          <a:p>
            <a:pPr marL="285750" indent="-285750">
              <a:buFontTx/>
              <a:buChar char="-"/>
            </a:pPr>
            <a:r>
              <a:rPr lang="de-DE" sz="1600" dirty="0">
                <a:solidFill>
                  <a:srgbClr val="FFFFFF"/>
                </a:solidFill>
                <a:latin typeface="Source Sans 3"/>
              </a:rPr>
              <a:t>Akzeptanz im Team</a:t>
            </a:r>
          </a:p>
          <a:p>
            <a:pPr marL="285750" indent="-285750">
              <a:buFontTx/>
              <a:buChar char="-"/>
            </a:pPr>
            <a:r>
              <a:rPr lang="de-DE" sz="1600" dirty="0">
                <a:solidFill>
                  <a:srgbClr val="FFFFFF"/>
                </a:solidFill>
                <a:latin typeface="Source Sans 3"/>
              </a:rPr>
              <a:t>Reporting klar definieren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3CF5DFC-233A-AEB8-17A0-8842136FC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92006-D325-4DB0-B1D2-7D1183539058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298306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43F57BD0-1EC2-C1A2-3801-D3C8A58ED590}"/>
              </a:ext>
            </a:extLst>
          </p:cNvPr>
          <p:cNvSpPr txBox="1"/>
          <p:nvPr/>
        </p:nvSpPr>
        <p:spPr>
          <a:xfrm>
            <a:off x="609600" y="508000"/>
            <a:ext cx="5486400" cy="615553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de-DE" sz="3400" b="1">
                <a:solidFill>
                  <a:srgbClr val="FFFFFF"/>
                </a:solidFill>
                <a:latin typeface="Poppins" panose="00000500000000000000" pitchFamily="2" charset="0"/>
              </a:rPr>
              <a:t>Lessons Learned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25874002-39CC-1A43-1825-DD6C7F4CBD37}"/>
              </a:ext>
            </a:extLst>
          </p:cNvPr>
          <p:cNvSpPr/>
          <p:nvPr/>
        </p:nvSpPr>
        <p:spPr>
          <a:xfrm>
            <a:off x="609600" y="1905000"/>
            <a:ext cx="76200" cy="355600"/>
          </a:xfrm>
          <a:prstGeom prst="rect">
            <a:avLst/>
          </a:prstGeom>
          <a:solidFill>
            <a:srgbClr val="4C8BFF"/>
          </a:solidFill>
          <a:ln w="0">
            <a:solidFill>
              <a:srgbClr val="4C8B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5F9500D8-A1C5-5849-3E91-66E4D980716E}"/>
              </a:ext>
            </a:extLst>
          </p:cNvPr>
          <p:cNvSpPr txBox="1"/>
          <p:nvPr/>
        </p:nvSpPr>
        <p:spPr>
          <a:xfrm>
            <a:off x="838200" y="1854200"/>
            <a:ext cx="7924800" cy="40011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de-DE" sz="2000">
                <a:solidFill>
                  <a:srgbClr val="FFFFFF"/>
                </a:solidFill>
                <a:latin typeface="Source Sans 3"/>
              </a:rPr>
              <a:t>Rollen von Anfang an klar definieren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F77DE768-86F0-AE11-F3D1-9E1A0A271F70}"/>
              </a:ext>
            </a:extLst>
          </p:cNvPr>
          <p:cNvSpPr/>
          <p:nvPr/>
        </p:nvSpPr>
        <p:spPr>
          <a:xfrm>
            <a:off x="609600" y="2794000"/>
            <a:ext cx="76200" cy="355600"/>
          </a:xfrm>
          <a:prstGeom prst="rect">
            <a:avLst/>
          </a:prstGeom>
          <a:solidFill>
            <a:srgbClr val="4C8BFF"/>
          </a:solidFill>
          <a:ln w="0">
            <a:solidFill>
              <a:srgbClr val="4C8B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2C73B1E7-BFC1-C0DB-A870-557FEA999B52}"/>
              </a:ext>
            </a:extLst>
          </p:cNvPr>
          <p:cNvSpPr txBox="1"/>
          <p:nvPr/>
        </p:nvSpPr>
        <p:spPr>
          <a:xfrm>
            <a:off x="838200" y="2743200"/>
            <a:ext cx="7924800" cy="40011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de-DE" sz="2000" dirty="0">
                <a:solidFill>
                  <a:srgbClr val="FFFFFF"/>
                </a:solidFill>
                <a:latin typeface="Source Sans 3"/>
              </a:rPr>
              <a:t>Feedback-Schleifen früh einbauen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F6562D21-B14F-AC80-38B5-C6D0201E4498}"/>
              </a:ext>
            </a:extLst>
          </p:cNvPr>
          <p:cNvSpPr/>
          <p:nvPr/>
        </p:nvSpPr>
        <p:spPr>
          <a:xfrm>
            <a:off x="609600" y="3683000"/>
            <a:ext cx="76200" cy="355600"/>
          </a:xfrm>
          <a:prstGeom prst="rect">
            <a:avLst/>
          </a:prstGeom>
          <a:solidFill>
            <a:srgbClr val="4C8BFF"/>
          </a:solidFill>
          <a:ln w="0">
            <a:solidFill>
              <a:srgbClr val="4C8B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BA50E502-8CA3-198E-5584-D419259E5792}"/>
              </a:ext>
            </a:extLst>
          </p:cNvPr>
          <p:cNvSpPr txBox="1"/>
          <p:nvPr/>
        </p:nvSpPr>
        <p:spPr>
          <a:xfrm>
            <a:off x="838200" y="3632200"/>
            <a:ext cx="7924800" cy="40011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de-DE" sz="2000" dirty="0">
                <a:solidFill>
                  <a:srgbClr val="FFFFFF"/>
                </a:solidFill>
                <a:latin typeface="Source Sans 3"/>
              </a:rPr>
              <a:t>Reporting zuerst denken, dann bauen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47A072A-D38C-029D-3BF1-714E4C997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92006-D325-4DB0-B1D2-7D1183539058}" type="slidenum">
              <a:rPr lang="de-DE" smtClean="0"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565899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1D7C7C91-48C6-EC88-2AB2-8A4A7E3E9861}"/>
              </a:ext>
            </a:extLst>
          </p:cNvPr>
          <p:cNvSpPr txBox="1"/>
          <p:nvPr/>
        </p:nvSpPr>
        <p:spPr>
          <a:xfrm>
            <a:off x="609600" y="508000"/>
            <a:ext cx="5486400" cy="615553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de-DE" sz="3400" b="1">
                <a:solidFill>
                  <a:srgbClr val="FFFFFF"/>
                </a:solidFill>
                <a:latin typeface="Poppins" panose="00000500000000000000" pitchFamily="2" charset="0"/>
              </a:rPr>
              <a:t>Fazit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B0BB44B2-8E4F-82EA-FF6D-ED9DA83983F7}"/>
              </a:ext>
            </a:extLst>
          </p:cNvPr>
          <p:cNvSpPr txBox="1"/>
          <p:nvPr/>
        </p:nvSpPr>
        <p:spPr>
          <a:xfrm>
            <a:off x="609600" y="1778000"/>
            <a:ext cx="4572000" cy="92333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285750" indent="-285750">
              <a:buFontTx/>
              <a:buChar char="-"/>
            </a:pPr>
            <a:r>
              <a:rPr lang="de-DE" sz="1800" dirty="0">
                <a:solidFill>
                  <a:srgbClr val="FFFFFF"/>
                </a:solidFill>
                <a:latin typeface="Source Sans 3"/>
              </a:rPr>
              <a:t>Klare Aufgaben und Verantwortungen</a:t>
            </a:r>
          </a:p>
          <a:p>
            <a:pPr marL="285750" indent="-285750">
              <a:buFontTx/>
              <a:buChar char="-"/>
            </a:pPr>
            <a:r>
              <a:rPr lang="de-DE" sz="1800" dirty="0">
                <a:solidFill>
                  <a:srgbClr val="FFFFFF"/>
                </a:solidFill>
                <a:latin typeface="Source Sans 3"/>
              </a:rPr>
              <a:t>Transparente Status für Manager</a:t>
            </a:r>
          </a:p>
          <a:p>
            <a:pPr marL="285750" indent="-285750">
              <a:buFontTx/>
              <a:buChar char="-"/>
            </a:pPr>
            <a:r>
              <a:rPr lang="de-DE" sz="1800" dirty="0">
                <a:solidFill>
                  <a:srgbClr val="FFFFFF"/>
                </a:solidFill>
                <a:latin typeface="Source Sans 3"/>
              </a:rPr>
              <a:t>Weniger Reibung im Arbeitsalltag</a:t>
            </a:r>
          </a:p>
        </p:txBody>
      </p: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6DC9C7CE-7C0C-8245-65E0-E54C481CBF9A}"/>
              </a:ext>
            </a:extLst>
          </p:cNvPr>
          <p:cNvSpPr/>
          <p:nvPr/>
        </p:nvSpPr>
        <p:spPr>
          <a:xfrm>
            <a:off x="5303520" y="1201316"/>
            <a:ext cx="3230880" cy="1656184"/>
          </a:xfrm>
          <a:prstGeom prst="roundRect">
            <a:avLst/>
          </a:prstGeom>
          <a:solidFill>
            <a:srgbClr val="111111"/>
          </a:solidFill>
          <a:ln w="12700">
            <a:solidFill>
              <a:srgbClr val="2222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A024D055-3AED-C28A-9ED3-2B277CC6D583}"/>
              </a:ext>
            </a:extLst>
          </p:cNvPr>
          <p:cNvSpPr txBox="1"/>
          <p:nvPr/>
        </p:nvSpPr>
        <p:spPr>
          <a:xfrm>
            <a:off x="5506720" y="1379116"/>
            <a:ext cx="282448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de-DE" sz="1800" b="1" dirty="0">
                <a:solidFill>
                  <a:srgbClr val="4C8BFF"/>
                </a:solidFill>
                <a:latin typeface="Source Sans 3"/>
              </a:rPr>
              <a:t>Nächste Schritte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1D163463-8226-0272-117B-3D379D9D7542}"/>
              </a:ext>
            </a:extLst>
          </p:cNvPr>
          <p:cNvSpPr txBox="1"/>
          <p:nvPr/>
        </p:nvSpPr>
        <p:spPr>
          <a:xfrm>
            <a:off x="5506720" y="1778000"/>
            <a:ext cx="2824480" cy="92333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285750" indent="-285750">
              <a:buFontTx/>
              <a:buChar char="-"/>
            </a:pPr>
            <a:r>
              <a:rPr lang="sv-SE" sz="1600" dirty="0">
                <a:solidFill>
                  <a:srgbClr val="FFFFFF"/>
                </a:solidFill>
                <a:latin typeface="Source Sans 3"/>
              </a:rPr>
              <a:t>Benachrichtigung einstellen</a:t>
            </a:r>
          </a:p>
          <a:p>
            <a:pPr marL="285750" indent="-285750">
              <a:buFontTx/>
              <a:buChar char="-"/>
            </a:pPr>
            <a:r>
              <a:rPr lang="sv-SE" sz="1600" dirty="0">
                <a:solidFill>
                  <a:srgbClr val="FFFFFF"/>
                </a:solidFill>
                <a:latin typeface="Source Sans 3"/>
              </a:rPr>
              <a:t>UI intuitiver gestalten</a:t>
            </a:r>
          </a:p>
          <a:p>
            <a:pPr marL="285750" indent="-285750">
              <a:buFontTx/>
              <a:buChar char="-"/>
            </a:pPr>
            <a:r>
              <a:rPr lang="sv-SE" sz="1600" dirty="0">
                <a:solidFill>
                  <a:srgbClr val="FFFFFF"/>
                </a:solidFill>
                <a:latin typeface="Source Sans 3"/>
              </a:rPr>
              <a:t>Haptic Feedback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04A01C67-B8D7-5A6E-5FEB-1E9F596A0EE6}"/>
              </a:ext>
            </a:extLst>
          </p:cNvPr>
          <p:cNvSpPr txBox="1"/>
          <p:nvPr/>
        </p:nvSpPr>
        <p:spPr>
          <a:xfrm>
            <a:off x="609600" y="4826000"/>
            <a:ext cx="5486400" cy="430887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de-DE" sz="2200">
                <a:solidFill>
                  <a:srgbClr val="999999"/>
                </a:solidFill>
                <a:latin typeface="Source Sans 3"/>
              </a:rPr>
              <a:t>Danke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6891397D-2401-9F82-E60D-DA2218C1B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92006-D325-4DB0-B1D2-7D1183539058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776069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565</Words>
  <Application>Microsoft Office PowerPoint</Application>
  <PresentationFormat>Bildschirmpräsentation (16:10)</PresentationFormat>
  <Paragraphs>137</Paragraphs>
  <Slides>13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13</vt:i4>
      </vt:variant>
    </vt:vector>
  </HeadingPairs>
  <TitlesOfParts>
    <vt:vector size="19" baseType="lpstr">
      <vt:lpstr>Aptos</vt:lpstr>
      <vt:lpstr>Aptos Display</vt:lpstr>
      <vt:lpstr>Arial</vt:lpstr>
      <vt:lpstr>Poppins</vt:lpstr>
      <vt:lpstr>Source Sans 3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Momo Hammad</dc:creator>
  <cp:lastModifiedBy>Momo Hammad</cp:lastModifiedBy>
  <cp:revision>15</cp:revision>
  <dcterms:created xsi:type="dcterms:W3CDTF">2026-01-13T17:23:51Z</dcterms:created>
  <dcterms:modified xsi:type="dcterms:W3CDTF">2026-01-14T18:05:47Z</dcterms:modified>
</cp:coreProperties>
</file>